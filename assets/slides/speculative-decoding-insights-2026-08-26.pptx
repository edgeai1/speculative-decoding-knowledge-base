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01 页｜投机解码：从算法加速到系统协同</a:t>
            </a:r>
          </a:p>
          <a:p/>
          <a:p>
            <a:r>
              <a:t>本报告基于 edgeai1/speculative-decoding-knowledge-base 的指定快照组织，面向具备大模型基础的研究与工程团队。核心库统计为66篇，逐篇精读截止2026年8月10日；8月26日增量另行核验，不能合并称作90篇精读。报告没有新增跑分。图中的机制示例、简化模型和建议阈值均明确标注；论文数字保留各自口径。</a:t>
            </a:r>
          </a:p>
          <a:p/>
          <a:p>
            <a:r>
              <a:t>来源与证据入口</a:t>
            </a:r>
          </a:p>
          <a:p>
            <a:r>
              <a:t>[KB] 知识库：范围与证据状态</a:t>
            </a:r>
          </a:p>
          <a:p>
            <a:r>
              <a:t>https://github.com/edgeai1/speculative-decoding-knowledge-base/blob/main/README.md</a:t>
            </a:r>
          </a:p>
          <a:p>
            <a:r>
              <a:t>[INC] 2026-08-26 增量核验</a:t>
            </a:r>
          </a:p>
          <a:p>
            <a:r>
              <a:t>https://github.com/edgeai1/speculative-decoding-knowledge-base/blob/main/landscape/incremental-update-2026-08-26.md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02 页｜四个判断：投机解码的价值来自协同优化</a:t>
            </a:r>
          </a:p>
          <a:p/>
          <a:p>
            <a:r>
              <a:t>本报告的四个判断贯穿后续页面：高接受率是必要观测量，但每轮成本决定最终收益；昂贵计算并行与轻量条件建模可以结合；正确性属于整个执行流程，不能仅靠target参与验证来宣称；生产环境需要请求级预算与回退。研究价值正从单一drafter向proposal、verification和runtime之间的接口转移。</a:t>
            </a:r>
          </a:p>
          <a:p/>
          <a:p>
            <a:r>
              <a:t>来源与证据入口</a:t>
            </a:r>
          </a:p>
          <a:p>
            <a:r>
              <a:t>[CMP] 跨论文比较</a:t>
            </a:r>
          </a:p>
          <a:p>
            <a:r>
              <a:t>https://github.com/edgeai1/speculative-decoding-knowledge-base/blob/main/COMPARISON.md</a:t>
            </a:r>
          </a:p>
          <a:p>
            <a:r>
              <a:t>[INC] 2026-08-26 增量核验</a:t>
            </a:r>
          </a:p>
          <a:p>
            <a:r>
              <a:t>https://github.com/edgeai1/speculative-decoding-knowledge-base/blob/main/landscape/incremental-update-2026-08-26.md</a:t>
            </a:r>
          </a:p>
          <a:p>
            <a:r>
              <a:t>[PI] Performance or Illusion?, MLSys 2026</a:t>
            </a:r>
          </a:p>
          <a:p>
            <a:r>
              <a:t>https://proceedings.mlsys.org/paper_files/paper/2026/hash/554e056fe2b6d9fd27ffcd3367ae1267-Abstract-Conference.html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03 页｜加速从何而来：用一次验证摊薄串行解码成本</a:t>
            </a:r>
          </a:p>
          <a:p/>
          <a:p>
            <a:r>
              <a:t>自回归生成每个新token依赖已生成前缀，小batch下每步大模型前向常受权重带宽限制。投机解码先用便宜的proposal生成候选，再以因果mask一次并行计算沿候选链的target条件概率。验证本身并不免费，长链会增加算力与KV访问；示意图只展示执行顺序，不代表墙钟比例。若首个候选被拒绝，本轮可能只前进一个校正token。</a:t>
            </a:r>
          </a:p>
          <a:p/>
          <a:p>
            <a:r>
              <a:t>来源与证据入口</a:t>
            </a:r>
          </a:p>
          <a:p>
            <a:r>
              <a:t>[LEVI] Leviathan et al., ICML 2023</a:t>
            </a:r>
          </a:p>
          <a:p>
            <a:r>
              <a:t>https://proceedings.mlr.press/v202/leviathan23a.html</a:t>
            </a:r>
          </a:p>
          <a:p>
            <a:r>
              <a:t>[CHEN] Chen et al., 2023</a:t>
            </a:r>
          </a:p>
          <a:p>
            <a:r>
              <a:t>https://arxiv.org/abs/2302.01318</a:t>
            </a:r>
          </a:p>
          <a:p>
            <a:r>
              <a:t>[TAX] 方法谱系</a:t>
            </a:r>
          </a:p>
          <a:p>
            <a:r>
              <a:t>https://github.com/edgeai1/speculative-decoding-knowledge-base/blob/main/TAXONOMY.md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04 页｜严格采样：接受与残差校正一起恢复目标分布</a:t>
            </a:r>
          </a:p>
          <a:p/>
          <a:p>
            <a:r>
              <a:t>对单候选，接受事件给token x贡献q(x)min(1,p(x)/q(x))=min(p(x),q(x))。总拒绝质量为1-sum min(p,q)，用归一化正部残差补回后，边缘恰为p。例中接受质量为0.2、0.3、0.2，拒绝概率0.3且残差全在A，最终恢复0.5、0.3、0.2。多步按连续前缀验证，首拒绝后的普通链后缀不能沿用。分布保持不要求相同随机种子得到逐样本相同输出。</a:t>
            </a:r>
          </a:p>
          <a:p/>
          <a:p>
            <a:r>
              <a:t>来源与证据入口</a:t>
            </a:r>
          </a:p>
          <a:p>
            <a:r>
              <a:t>[LEVI] Leviathan et al., ICML 2023</a:t>
            </a:r>
          </a:p>
          <a:p>
            <a:r>
              <a:t>https://proceedings.mlr.press/v202/leviathan23a.html</a:t>
            </a:r>
          </a:p>
          <a:p>
            <a:r>
              <a:t>[CHEN] Chen et al., 2023</a:t>
            </a:r>
          </a:p>
          <a:p>
            <a:r>
              <a:t>https://arxiv.org/abs/2302.01318</a:t>
            </a:r>
          </a:p>
          <a:p>
            <a:r>
              <a:t>[GLO] 术语与正确性边界</a:t>
            </a:r>
          </a:p>
          <a:p>
            <a:r>
              <a:t>https://github.com/edgeai1/speculative-decoding-knowledge-base/blob/main/GLOSSARY.md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05 页｜收益方程：接受长度与每轮成本共同决定加速</a:t>
            </a:r>
          </a:p>
          <a:p/>
          <a:p>
            <a:r>
              <a:t>令K为草稿长度，α为固定的条件接受率。每轮推进τ的期望为1+α+...+α^K；一般情形应使用逐位置条件接受率乘积之和。速度模型忽略prefill、排队和请求交互。图假设target单token时间为1，每轮固定成本1、草稿每步0.10、验证额外每位置0.04，故成本1+0.14K。该示例用于说明最佳K依赖α与硬件成本，不用于预测任何真实模型。</a:t>
            </a:r>
          </a:p>
          <a:p/>
          <a:p>
            <a:r>
              <a:t>来源与证据入口</a:t>
            </a:r>
          </a:p>
          <a:p>
            <a:r>
              <a:t>[LEVI] Leviathan et al., ICML 2023</a:t>
            </a:r>
          </a:p>
          <a:p>
            <a:r>
              <a:t>https://proceedings.mlr.press/v202/leviathan23a.html</a:t>
            </a:r>
          </a:p>
          <a:p>
            <a:r>
              <a:t>[GLO] 术语与正确性边界</a:t>
            </a:r>
          </a:p>
          <a:p>
            <a:r>
              <a:t>https://github.com/edgeai1/speculative-decoding-knowledge-base/blob/main/GLOSSARY.md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06 页｜方法地图：先识别 proposal 来源，再比较系统代价</a:t>
            </a:r>
          </a:p>
          <a:p/>
          <a:p>
            <a:r>
              <a:t>独立小模型提供清晰条件概率但需要额外权重和KV；特征头以target内部状态提升接受率，需要target专用适配；并行块减少重计算的串行路径；半自回归修正恢复候选依赖；自推测减轻维护独立模型的负担但仍有大权重或KV读取；检索在重复任务中有低固定成本。链、树、多候选验证和调度可横跨这些家族，不应作为互斥模型排行榜。</a:t>
            </a:r>
          </a:p>
          <a:p/>
          <a:p>
            <a:r>
              <a:t>来源与证据入口</a:t>
            </a:r>
          </a:p>
          <a:p>
            <a:r>
              <a:t>[TAX] 方法谱系</a:t>
            </a:r>
          </a:p>
          <a:p>
            <a:r>
              <a:t>https://github.com/edgeai1/speculative-decoding-knowledge-base/blob/main/TAXONOMY.md</a:t>
            </a:r>
          </a:p>
          <a:p>
            <a:r>
              <a:t>[CMP] 跨论文比较</a:t>
            </a:r>
          </a:p>
          <a:p>
            <a:r>
              <a:t>https://github.com/edgeai1/speculative-decoding-knowledge-base/blob/main/COMPARISON.md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07 页｜演进主线：从减少串行步数到管理联合执行成本</a:t>
            </a:r>
          </a:p>
          <a:p/>
          <a:p>
            <a:r>
              <a:t>2018年的blockwise是重要前驱，2023年的精确speculative sampling奠定分布校正基础。随后研究沿目标特征、动态树、长上下文和系统工程分化。2025至2026年，并行块把昂贵的草稿主干成本压低，暴露了候选间相容性和验证容量问题。8月增量继续把研究推进到残差分布、混合状态、语义作用域与MoE资源。时间线表达研究问题的变化，并非宣称新方法淘汰所有旧方法。</a:t>
            </a:r>
          </a:p>
          <a:p/>
          <a:p>
            <a:r>
              <a:t>来源与证据入口</a:t>
            </a:r>
          </a:p>
          <a:p>
            <a:r>
              <a:t>[TAX] 方法谱系</a:t>
            </a:r>
          </a:p>
          <a:p>
            <a:r>
              <a:t>https://github.com/edgeai1/speculative-decoding-knowledge-base/blob/main/TAXONOMY.md</a:t>
            </a:r>
          </a:p>
          <a:p>
            <a:r>
              <a:t>[INC] 2026-08-26 增量核验</a:t>
            </a:r>
          </a:p>
          <a:p>
            <a:r>
              <a:t>https://github.com/edgeai1/speculative-decoding-knowledge-base/blob/main/landscape/incremental-update-2026-08-26.md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08 页｜EAGLE-3：让目标特征直接服务于 token 提案</a:t>
            </a:r>
          </a:p>
          <a:p/>
          <a:p>
            <a:r>
              <a:t>EAGLE-3的要点并非单纯增加草稿容量，而是解除内部表示回归约束，让训练目标直接优化未来token。训练时模拟自身rollout缓解teacher forcing与推理状态差异；多层target特征提供不同层次的信息。实际加速仍受草稿自回归步骤、特征读取和target专用训练成本影响。本文将其作为特征头路线的机制代表，不将其原论文最高值与DFlash不同设置直接比较。</a:t>
            </a:r>
          </a:p>
          <a:p/>
          <a:p>
            <a:r>
              <a:t>来源与证据入口</a:t>
            </a:r>
          </a:p>
          <a:p>
            <a:r>
              <a:t>[E3] EAGLE-3, NeurIPS 2025</a:t>
            </a:r>
          </a:p>
          <a:p>
            <a:r>
              <a:t>https://arxiv.org/abs/2503.01840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09 页｜DFlash：并行生成很便宜，连贯的长前缀仍然昂贵</a:t>
            </a:r>
          </a:p>
          <a:p/>
          <a:p>
            <a:r>
              <a:t>DFlash以target多层context features注入每个draft层的KV，使用anchor与mask并行输出位置提案。并行位置分布可以定义一个合法的独立proposal；问题是它可能不贴近target的联合序列分布，从而降低后缀接受率。不能声称独立marginal天然无法严格校正：只要实际proposal概率被准确记录并正确校正，外层仍可保持target分布。图中城市与国家只是说明候选组合相关性的教学示例，不是tokenization或真实输出。</a:t>
            </a:r>
          </a:p>
          <a:p/>
          <a:p>
            <a:r>
              <a:t>来源与证据入口</a:t>
            </a:r>
          </a:p>
          <a:p>
            <a:r>
              <a:t>[DF] DFlash, ICML 2026</a:t>
            </a:r>
          </a:p>
          <a:p>
            <a:r>
              <a:t>https://arxiv.org/abs/2602.06036</a:t>
            </a:r>
          </a:p>
          <a:p>
            <a:r>
              <a:t>[TAX] 方法谱系</a:t>
            </a:r>
          </a:p>
          <a:p>
            <a:r>
              <a:t>https://github.com/edgeai1/speculative-decoding-knowledge-base/blob/main/TAXONOMY.md</a:t>
            </a:r>
          </a:p>
          <a:p>
            <a:r>
              <a:t>[GLO] 术语与正确性边界</a:t>
            </a:r>
          </a:p>
          <a:p>
            <a:r>
              <a:t>https://github.com/edgeai1/speculative-decoding-knowledge-base/blob/main/GLOSSARY.md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页｜DSpark：轻量因果修正提升前缀，调度兑现系统收益</a:t>
            </a:r>
          </a:p>
          <a:p/>
          <a:p>
            <a:r>
              <a:t>数据核对至DSpark arXiv:2607.05147v1第11页Table 1。Qwen3-8B，temperature=1，chain-only，同一DeepSpec训练pipeline和1.3M prompts，10 epochs。EAGLE-3为1层、TTT7；DFlash与DSpark为5层，block设置7。离线关闭confidence scheduler以隔离proposal质量。图展示GSM8K、HumanEval、MT-Bench三个切片，并非九任务宏平均。DSpark的Markov/RNN条件头提供实际条件q；线上调度另依赖prefix survival和engine profile，离线表不能证明线上改进幅度。</a:t>
            </a:r>
          </a:p>
          <a:p/>
          <a:p>
            <a:r>
              <a:t>来源与证据入口</a:t>
            </a:r>
          </a:p>
          <a:p>
            <a:r>
              <a:t>[DS] DSpark, 2026, preprint</a:t>
            </a:r>
          </a:p>
          <a:p>
            <a:r>
              <a:t>https://arxiv.org/abs/2607.05147v1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页｜树与块验证：增加候选覆盖，也增加概率与状态账本</a:t>
            </a:r>
          </a:p>
          <a:p/>
          <a:p>
            <a:r>
              <a:t>树验证将多个候选前缀打包到一个target forward，祖先掩码和真实position保证每节点对应一条合法前缀。通过更多分支提升覆盖会带来验证token数、KV及MoE专家集合增大。Block Verification在论文定义的链式验证类内优化期望推进，其最优性不能扩展为任意树和任意成本下全局最优。ResiSpec进一步关注多候选拒绝后proposal与残差的耦合更新；正确残差账本与硬件预算仍需联合设计。</a:t>
            </a:r>
          </a:p>
          <a:p/>
          <a:p>
            <a:r>
              <a:t>来源与证据入口</a:t>
            </a:r>
          </a:p>
          <a:p>
            <a:r>
              <a:t>[SI] SpecInfer, ASPLOS 2024</a:t>
            </a:r>
          </a:p>
          <a:p>
            <a:r>
              <a:t>https://arxiv.org/abs/2305.09781</a:t>
            </a:r>
          </a:p>
          <a:p>
            <a:r>
              <a:t>[BV] Block Verification, ICLR 2025</a:t>
            </a:r>
          </a:p>
          <a:p>
            <a:r>
              <a:t>https://openreview.net/forum?id=frsg32u0rO</a:t>
            </a:r>
          </a:p>
          <a:p>
            <a:r>
              <a:t>[RS] ResiSpec, 2026, preprint</a:t>
            </a:r>
          </a:p>
          <a:p>
            <a:r>
              <a:t>https://arxiv.org/abs/2608.24411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页｜长上下文：瓶颈从权重读取转向 KV 与状态访问</a:t>
            </a:r>
          </a:p>
          <a:p/>
          <a:p>
            <a:r>
              <a:t>MagicDec强调随着上下文变长，完整target KV读取成本会改变投机解码与batching的关系。用固定稀疏KV起草可在部分大batch区间仍获收益，结论依赖attention kernel和模型结构。Windowed-MTP指出native MTP也可能多次读取巨大的draft KV；仅裁剪draft视图、保留target完整验证可降低草稿成本。该页不引用其每轮成本降幅作为每token加速。正确性边界还包括RoPE逻辑位置、ring buffer、recurrent state和接受后状态更新。</a:t>
            </a:r>
          </a:p>
          <a:p/>
          <a:p>
            <a:r>
              <a:t>来源与证据入口</a:t>
            </a:r>
          </a:p>
          <a:p>
            <a:r>
              <a:t>[MG] MagicDec, ICLR 2025</a:t>
            </a:r>
          </a:p>
          <a:p>
            <a:r>
              <a:t>https://arxiv.org/abs/2408.11049</a:t>
            </a:r>
          </a:p>
          <a:p>
            <a:r>
              <a:t>[WM] Windowed-MTP, 2026, preprint</a:t>
            </a:r>
          </a:p>
          <a:p>
            <a:r>
              <a:t>https://arxiv.org/abs/2607.21535</a:t>
            </a:r>
          </a:p>
          <a:p>
            <a:r>
              <a:t>[TAX] 方法谱系</a:t>
            </a:r>
          </a:p>
          <a:p>
            <a:r>
              <a:t>https://github.com/edgeai1/speculative-decoding-knowledge-base/blob/main/TAXONOMY.md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页｜Serving：将验证容量分配给更可能存活的前缀</a:t>
            </a:r>
          </a:p>
          <a:p/>
          <a:p>
            <a:r>
              <a:t>例子假设扩展预算只能验证六个候选位置，不含每请求必须保留的target基础位置。A存活率为0.90、0.81、0.73、0.66，B为0.70、0.49、0.34、0.24，C为0.40、0.16、0.06、0.03。选择A1-A4、B1-B2的存活概率总和4.29，高于固定每请求两格的3.46，条件是这些置信度来自合法可用信息且节点成本一致。实际调度还需deadline、公平性、上下文、MoE成本和graph容量约束。不能利用未来随机候选反过来选择其自身是否被验证；DSpark对此使用因果约束和历史capacity信号。</a:t>
            </a:r>
          </a:p>
          <a:p/>
          <a:p>
            <a:r>
              <a:t>来源与证据入口</a:t>
            </a:r>
          </a:p>
          <a:p>
            <a:r>
              <a:t>[DS] DSpark, 2026, preprint</a:t>
            </a:r>
          </a:p>
          <a:p>
            <a:r>
              <a:t>https://arxiv.org/abs/2607.05147v1</a:t>
            </a:r>
          </a:p>
          <a:p>
            <a:r>
              <a:t>[PI] Performance or Illusion?, MLSys 2026</a:t>
            </a:r>
          </a:p>
          <a:p>
            <a:r>
              <a:t>https://proceedings.mlsys.org/paper_files/paper/2026/hash/554e056fe2b6d9fd27ffcd3367ae1267-Abstract-Conference.html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 页｜性能证据：分别读取算法质量、墙钟速度与服务曲线</a:t>
            </a:r>
          </a:p>
          <a:p/>
          <a:p>
            <a:r>
              <a:t>DSpark离线Qwen3-8B九任务宏平均接受长度相对EAGLE-3提升26.7%，与第10页三个切片不同。该指标不涉及实际GPU速度。线上Flash匹配吞吐的每用户速度提升60%-85%对应MTP-1基线，不能与离线表混成同一个因果实验，完整生产模型、kernel和流量也未全公开。Performance or Illusion的4.9倍为oracle/simulator潜力而非已实现系统。SPEED-Bench支持方法比较，但仍要增加真实到达、长尾输出和SLO测试。</a:t>
            </a:r>
          </a:p>
          <a:p/>
          <a:p>
            <a:r>
              <a:t>来源与证据入口</a:t>
            </a:r>
          </a:p>
          <a:p>
            <a:r>
              <a:t>[DS] DSpark, 2026, preprint</a:t>
            </a:r>
          </a:p>
          <a:p>
            <a:r>
              <a:t>https://arxiv.org/abs/2607.05147v1</a:t>
            </a:r>
          </a:p>
          <a:p>
            <a:r>
              <a:t>[PI] Performance or Illusion?, MLSys 2026</a:t>
            </a:r>
          </a:p>
          <a:p>
            <a:r>
              <a:t>https://proceedings.mlsys.org/paper_files/paper/2026/hash/554e056fe2b6d9fd27ffcd3367ae1267-Abstract-Conference.html</a:t>
            </a:r>
          </a:p>
          <a:p>
            <a:r>
              <a:t>[SP] SPEED-Bench, ICML 2026</a:t>
            </a:r>
          </a:p>
          <a:p>
            <a:r>
              <a:t>https://arxiv.org/abs/2604.09557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15 页｜正确性与鲁棒性：输出保证和服务稳定性分开评估</a:t>
            </a:r>
          </a:p>
          <a:p/>
          <a:p>
            <a:r>
              <a:t>Greedy-exact要求相同目标和解码策略下的逐token一致；sampling-exact要求分布一致，不能用同种子逐样本不同判定失败。改变target checkpoint后只能相对新target讨论无损。MARS、ASD或限制target router属于近似策略，应单独报告质量-速度曲线。Mistletoe等工作说明正常语义输出仍可造成接受崩溃；合理防御是基于合法历史信息降低预算或停用SD并回到原target，而不是放宽接受规则。</a:t>
            </a:r>
          </a:p>
          <a:p/>
          <a:p>
            <a:r>
              <a:t>来源与证据入口</a:t>
            </a:r>
          </a:p>
          <a:p>
            <a:r>
              <a:t>[GLO] 术语与正确性边界</a:t>
            </a:r>
          </a:p>
          <a:p>
            <a:r>
              <a:t>https://github.com/edgeai1/speculative-decoding-knowledge-base/blob/main/GLOSSARY.md</a:t>
            </a:r>
          </a:p>
          <a:p>
            <a:r>
              <a:t>[RV] Revisiting Lossy Verification, 2026</a:t>
            </a:r>
          </a:p>
          <a:p>
            <a:r>
              <a:t>https://arxiv.org/abs/2607.26627</a:t>
            </a:r>
          </a:p>
          <a:p>
            <a:r>
              <a:t>[MT] Mistletoe, 2026, preprint</a:t>
            </a:r>
          </a:p>
          <a:p>
            <a:r>
              <a:t>https://arxiv.org/abs/2605.14005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16 页｜8 月增量：新进展继续暴露概率、状态和条件接口</a:t>
            </a:r>
          </a:p>
          <a:p/>
          <a:p>
            <a:r>
              <a:t>此页只概括知识库增量中与主线最相关的方法，不宣称这些条目都已逐页精读或完成复现。ResiSpec关注拒绝后的候选与残差质量匹配；DARTree把因果修正从链扩展到树，随机采样实现仍需单独审计；LiLiCorr用候选兼容性改进并行块；TreeWY为混合recurrent状态设计树执行，保留greedy语义但有有限精度边界；AgentSpec依赖语义scope；S2-MoE的routing bias修改target，须标lossy；FOVEA处理视觉证据读取。本文不引用这些工作之间不可比的最高加速数字。</a:t>
            </a:r>
          </a:p>
          <a:p/>
          <a:p>
            <a:r>
              <a:t>来源与证据入口</a:t>
            </a:r>
          </a:p>
          <a:p>
            <a:r>
              <a:t>[INC] 2026-08-26 增量核验</a:t>
            </a:r>
          </a:p>
          <a:p>
            <a:r>
              <a:t>https://github.com/edgeai1/speculative-decoding-knowledge-base/blob/main/landscape/incremental-update-2026-08-26.md</a:t>
            </a:r>
          </a:p>
          <a:p>
            <a:r>
              <a:t>[RS] ResiSpec, 2026, preprint</a:t>
            </a:r>
          </a:p>
          <a:p>
            <a:r>
              <a:t>https://arxiv.org/abs/2608.24411</a:t>
            </a:r>
          </a:p>
          <a:p>
            <a:r>
              <a:t>[TW] TreeWY, 2026, preprint</a:t>
            </a:r>
          </a:p>
          <a:p>
            <a:r>
              <a:t>https://arxiv.org/abs/2608.20961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17 页｜落地选型：依据瓶颈与可投入资源筛选路线</a:t>
            </a:r>
          </a:p>
          <a:p/>
          <a:p>
            <a:r>
              <a:t>选型应先profile再决定模型家族。低并发低延迟可优先考察feature或parallel drafter；高并发重点在预算与continuous batching；长上下文需看草稿KV税；agent重复输出可先用检索基线验证需求；资源受限或offload不能忽视权重resident set、换入和索引成本。MoE与混合状态的系统方案要明确是否改变router或状态语义。这里的“优先”表示最值得建立的初始对照，并不承诺部署效果。</a:t>
            </a:r>
          </a:p>
          <a:p/>
          <a:p>
            <a:r>
              <a:t>来源与证据入口</a:t>
            </a:r>
          </a:p>
          <a:p>
            <a:r>
              <a:t>[TAX] 方法谱系</a:t>
            </a:r>
          </a:p>
          <a:p>
            <a:r>
              <a:t>https://github.com/edgeai1/speculative-decoding-knowledge-base/blob/main/TAXONOMY.md</a:t>
            </a:r>
          </a:p>
          <a:p>
            <a:r>
              <a:t>[CMP] 跨论文比较</a:t>
            </a:r>
          </a:p>
          <a:p>
            <a:r>
              <a:t>https://github.com/edgeai1/speculative-decoding-knowledge-base/blob/main/COMPARISON.md</a:t>
            </a:r>
          </a:p>
          <a:p>
            <a:r>
              <a:t>[INC] 2026-08-26 增量核验</a:t>
            </a:r>
          </a:p>
          <a:p>
            <a:r>
              <a:t>https://github.com/edgeai1/speculative-decoding-knowledge-base/blob/main/landscape/incremental-update-2026-08-26.md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18 页｜研究优先级：选择可证伪、可测量的系统接口问题</a:t>
            </a:r>
          </a:p>
          <a:p/>
          <a:p>
            <a:r>
              <a:t>8月26日增量建议相较旧shortlist已变化，因此研究优先级以增量为主。Exact MoE Scheduling要求不改target router/logits，用合法提案选择、专家预取和packing降低开销，并与相关近似方法明确区分。风险感知调度要证明校准提升能转换为真实SLO收益，而不只优化ECE。Hybrid-state runtime的重点是统一状态生命周期和可验证回退。启动前仍需针对截止日以后的新论文和开源实现再次查重。</a:t>
            </a:r>
          </a:p>
          <a:p/>
          <a:p>
            <a:r>
              <a:t>来源与证据入口</a:t>
            </a:r>
          </a:p>
          <a:p>
            <a:r>
              <a:t>[INC] 2026-08-26 增量核验</a:t>
            </a:r>
          </a:p>
          <a:p>
            <a:r>
              <a:t>https://github.com/edgeai1/speculative-decoding-knowledge-base/blob/main/landscape/incremental-update-2026-08-26.md</a:t>
            </a:r>
          </a:p>
          <a:p>
            <a:r>
              <a:t>[GAP] 研究空白 shortlist</a:t>
            </a:r>
          </a:p>
          <a:p>
            <a:r>
              <a:t>https://github.com/edgeai1/speculative-decoding-knowledge-base/blob/main/landscape/research-gaps-shortlist.md</a:t>
            </a:r>
          </a:p>
          <a:p>
            <a:r>
              <a:t>[CMP] 跨论文比较</a:t>
            </a:r>
          </a:p>
          <a:p>
            <a:r>
              <a:t>https://github.com/edgeai1/speculative-decoding-knowledge-base/blob/main/COMPARISON.md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19 页｜四周验证路径：先定位收益来源，再决定扩大投入</a:t>
            </a:r>
          </a:p>
          <a:p/>
          <a:p>
            <a:r>
              <a:t>四周方案适合小规模feasibility study，不是大型生产部署交付时间承诺。第一周固定baseline并验证输出，第二周收集domain×context×concurrency的逐轮成本与接受轨迹，第三周只修改一个控制决策，第四周看真实trace回放、尾延迟、鲁棒性和收益置信区间。建议将至少两个自然负载桶goodput提升10%、P99退化不超过5%且开销小于收益10%作为初始项目门槛；具体数值应由团队SLO和经济性调整，不把统计显著性替代实际价值。</a:t>
            </a:r>
          </a:p>
          <a:p/>
          <a:p>
            <a:r>
              <a:t>来源与证据入口</a:t>
            </a:r>
          </a:p>
          <a:p>
            <a:r>
              <a:t>[SP] SPEED-Bench, ICML 2026</a:t>
            </a:r>
          </a:p>
          <a:p>
            <a:r>
              <a:t>https://arxiv.org/abs/2604.09557</a:t>
            </a:r>
          </a:p>
          <a:p>
            <a:r>
              <a:t>[PI] Performance or Illusion?, MLSys 2026</a:t>
            </a:r>
          </a:p>
          <a:p>
            <a:r>
              <a:t>https://proceedings.mlsys.org/paper_files/paper/2026/hash/554e056fe2b6d9fd27ffcd3367ae1267-Abstract-Conference.html</a:t>
            </a:r>
          </a:p>
          <a:p>
            <a:r>
              <a:t>[GAP] 研究空白 shortlist</a:t>
            </a:r>
          </a:p>
          <a:p>
            <a:r>
              <a:t>https://github.com/edgeai1/speculative-decoding-knowledge-base/blob/main/landscape/research-gaps-shortlist.md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20 页｜结论：以正确性为约束，以有效吞吐为最终检验</a:t>
            </a:r>
          </a:p>
          <a:p/>
          <a:p>
            <a:r>
              <a:t>建议按右侧路径回读原文：先建立speculative sampling的概率保证；再比较EAGLE-3、DFlash与DSpark的草稿结构；随后阅读Performance or Illusion与SPEED-Bench建立评测协议；最后用增量页校正研究问题。每页脚注链接到论文或知识库，备注保存条件、口径与解释；另附逐页讲稿与来源索引。本文由资料综合与机制推演组成，未执行模型推理benchmark。最终选择取决于本地实际运行区间。</a:t>
            </a:r>
          </a:p>
          <a:p/>
          <a:p>
            <a:r>
              <a:t>来源与证据入口</a:t>
            </a:r>
          </a:p>
          <a:p>
            <a:r>
              <a:t>[KB] 知识库：范围与证据状态</a:t>
            </a:r>
          </a:p>
          <a:p>
            <a:r>
              <a:t>https://github.com/edgeai1/speculative-decoding-knowledge-base/blob/main/README.md</a:t>
            </a:r>
          </a:p>
          <a:p>
            <a:r>
              <a:t>[INC] 2026-08-26 增量核验</a:t>
            </a:r>
          </a:p>
          <a:p>
            <a:r>
              <a:t>https://github.com/edgeai1/speculative-decoding-knowledge-base/blob/main/landscape/incremental-update-2026-08-26.md</a:t>
            </a:r>
          </a:p>
          <a:p/>
          <a:p>
            <a:r>
              <a:t>证据说明：论文结果属于作者报告，本报告未新增模型跑分。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dgeai1/speculative-decoding-knowledge-base/blob/main/README.md" TargetMode="External"/><Relationship Id="rId3" Type="http://schemas.openxmlformats.org/officeDocument/2006/relationships/hyperlink" Target="https://github.com/edgeai1/speculative-decoding-knowledge-base/blob/main/landscape/incremental-update-2026-08-26.md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dgeai1/speculative-decoding-knowledge-base/blob/main/COMPARISON.md" TargetMode="External"/><Relationship Id="rId3" Type="http://schemas.openxmlformats.org/officeDocument/2006/relationships/hyperlink" Target="https://github.com/edgeai1/speculative-decoding-knowledge-base/blob/main/landscape/incremental-update-2026-08-26.md" TargetMode="External"/><Relationship Id="rId4" Type="http://schemas.openxmlformats.org/officeDocument/2006/relationships/hyperlink" Target="https://proceedings.mlsys.org/paper_files/paper/2026/hash/554e056fe2b6d9fd27ffcd3367ae1267-Abstract-Conference.html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oceedings.mlr.press/v202/leviathan23a.html" TargetMode="External"/><Relationship Id="rId3" Type="http://schemas.openxmlformats.org/officeDocument/2006/relationships/hyperlink" Target="https://arxiv.org/abs/2302.01318" TargetMode="External"/><Relationship Id="rId4" Type="http://schemas.openxmlformats.org/officeDocument/2006/relationships/hyperlink" Target="https://github.com/edgeai1/speculative-decoding-knowledge-base/blob/main/TAXONOMY.md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oceedings.mlr.press/v202/leviathan23a.html" TargetMode="External"/><Relationship Id="rId3" Type="http://schemas.openxmlformats.org/officeDocument/2006/relationships/hyperlink" Target="https://arxiv.org/abs/2302.01318" TargetMode="External"/><Relationship Id="rId4" Type="http://schemas.openxmlformats.org/officeDocument/2006/relationships/hyperlink" Target="https://github.com/edgeai1/speculative-decoding-knowledge-base/blob/main/GLOSSARY.md" TargetMode="Externa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oceedings.mlr.press/v202/leviathan23a.html" TargetMode="External"/><Relationship Id="rId3" Type="http://schemas.openxmlformats.org/officeDocument/2006/relationships/hyperlink" Target="https://github.com/edgeai1/speculative-decoding-knowledge-base/blob/main/GLOSSARY.md" TargetMode="Externa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dgeai1/speculative-decoding-knowledge-base/blob/main/TAXONOMY.md" TargetMode="External"/><Relationship Id="rId3" Type="http://schemas.openxmlformats.org/officeDocument/2006/relationships/hyperlink" Target="https://github.com/edgeai1/speculative-decoding-knowledge-base/blob/main/COMPARISON.md" TargetMode="Externa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dgeai1/speculative-decoding-knowledge-base/blob/main/TAXONOMY.md" TargetMode="External"/><Relationship Id="rId3" Type="http://schemas.openxmlformats.org/officeDocument/2006/relationships/hyperlink" Target="https://github.com/edgeai1/speculative-decoding-knowledge-base/blob/main/landscape/incremental-update-2026-08-26.md" TargetMode="Externa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503.01840" TargetMode="Externa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602.06036" TargetMode="External"/><Relationship Id="rId3" Type="http://schemas.openxmlformats.org/officeDocument/2006/relationships/hyperlink" Target="https://github.com/edgeai1/speculative-decoding-knowledge-base/blob/main/TAXONOMY.md" TargetMode="External"/><Relationship Id="rId4" Type="http://schemas.openxmlformats.org/officeDocument/2006/relationships/hyperlink" Target="https://github.com/edgeai1/speculative-decoding-knowledge-base/blob/main/GLOSSARY.md" TargetMode="Externa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607.05147v1" TargetMode="Externa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305.09781" TargetMode="External"/><Relationship Id="rId3" Type="http://schemas.openxmlformats.org/officeDocument/2006/relationships/hyperlink" Target="https://openreview.net/forum?id=frsg32u0rO" TargetMode="External"/><Relationship Id="rId4" Type="http://schemas.openxmlformats.org/officeDocument/2006/relationships/hyperlink" Target="https://arxiv.org/abs/2608.24411" TargetMode="Externa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408.11049" TargetMode="External"/><Relationship Id="rId3" Type="http://schemas.openxmlformats.org/officeDocument/2006/relationships/hyperlink" Target="https://arxiv.org/abs/2607.21535" TargetMode="External"/><Relationship Id="rId4" Type="http://schemas.openxmlformats.org/officeDocument/2006/relationships/hyperlink" Target="https://github.com/edgeai1/speculative-decoding-knowledge-base/blob/main/TAXONOMY.md" TargetMode="Externa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607.05147v1" TargetMode="External"/><Relationship Id="rId3" Type="http://schemas.openxmlformats.org/officeDocument/2006/relationships/hyperlink" Target="https://proceedings.mlsys.org/paper_files/paper/2026/hash/554e056fe2b6d9fd27ffcd3367ae1267-Abstract-Conference.html" TargetMode="Externa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607.05147v1" TargetMode="External"/><Relationship Id="rId3" Type="http://schemas.openxmlformats.org/officeDocument/2006/relationships/hyperlink" Target="https://proceedings.mlsys.org/paper_files/paper/2026/hash/554e056fe2b6d9fd27ffcd3367ae1267-Abstract-Conference.html" TargetMode="External"/><Relationship Id="rId4" Type="http://schemas.openxmlformats.org/officeDocument/2006/relationships/hyperlink" Target="https://arxiv.org/abs/2604.09557" TargetMode="Externa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dgeai1/speculative-decoding-knowledge-base/blob/main/GLOSSARY.md" TargetMode="External"/><Relationship Id="rId3" Type="http://schemas.openxmlformats.org/officeDocument/2006/relationships/hyperlink" Target="https://arxiv.org/abs/2607.26627" TargetMode="External"/><Relationship Id="rId4" Type="http://schemas.openxmlformats.org/officeDocument/2006/relationships/hyperlink" Target="https://arxiv.org/abs/2605.14005" TargetMode="Externa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dgeai1/speculative-decoding-knowledge-base/blob/main/landscape/incremental-update-2026-08-26.md" TargetMode="External"/><Relationship Id="rId3" Type="http://schemas.openxmlformats.org/officeDocument/2006/relationships/hyperlink" Target="https://arxiv.org/abs/2608.24411" TargetMode="External"/><Relationship Id="rId4" Type="http://schemas.openxmlformats.org/officeDocument/2006/relationships/hyperlink" Target="https://arxiv.org/abs/2608.20961" TargetMode="Externa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dgeai1/speculative-decoding-knowledge-base/blob/main/TAXONOMY.md" TargetMode="External"/><Relationship Id="rId3" Type="http://schemas.openxmlformats.org/officeDocument/2006/relationships/hyperlink" Target="https://github.com/edgeai1/speculative-decoding-knowledge-base/blob/main/COMPARISON.md" TargetMode="External"/><Relationship Id="rId4" Type="http://schemas.openxmlformats.org/officeDocument/2006/relationships/hyperlink" Target="https://github.com/edgeai1/speculative-decoding-knowledge-base/blob/main/landscape/incremental-update-2026-08-26.md" TargetMode="Externa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dgeai1/speculative-decoding-knowledge-base/blob/main/landscape/incremental-update-2026-08-26.md" TargetMode="External"/><Relationship Id="rId3" Type="http://schemas.openxmlformats.org/officeDocument/2006/relationships/hyperlink" Target="https://github.com/edgeai1/speculative-decoding-knowledge-base/blob/main/landscape/research-gaps-shortlist.md" TargetMode="External"/><Relationship Id="rId4" Type="http://schemas.openxmlformats.org/officeDocument/2006/relationships/hyperlink" Target="https://github.com/edgeai1/speculative-decoding-knowledge-base/blob/main/COMPARISON.md" TargetMode="Externa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604.09557" TargetMode="External"/><Relationship Id="rId3" Type="http://schemas.openxmlformats.org/officeDocument/2006/relationships/hyperlink" Target="https://proceedings.mlsys.org/paper_files/paper/2026/hash/554e056fe2b6d9fd27ffcd3367ae1267-Abstract-Conference.html" TargetMode="External"/><Relationship Id="rId4" Type="http://schemas.openxmlformats.org/officeDocument/2006/relationships/hyperlink" Target="https://github.com/edgeai1/speculative-decoding-knowledge-base/blob/main/landscape/research-gaps-shortlist.md" TargetMode="Externa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oceedings.mlr.press/v202/leviathan23a.html" TargetMode="External"/><Relationship Id="rId3" Type="http://schemas.openxmlformats.org/officeDocument/2006/relationships/hyperlink" Target="https://arxiv.org/abs/2302.01318" TargetMode="External"/><Relationship Id="rId4" Type="http://schemas.openxmlformats.org/officeDocument/2006/relationships/hyperlink" Target="https://arxiv.org/abs/2503.01840" TargetMode="External"/><Relationship Id="rId5" Type="http://schemas.openxmlformats.org/officeDocument/2006/relationships/hyperlink" Target="https://arxiv.org/abs/2602.06036" TargetMode="External"/><Relationship Id="rId6" Type="http://schemas.openxmlformats.org/officeDocument/2006/relationships/hyperlink" Target="https://arxiv.org/abs/2607.05147v1" TargetMode="External"/><Relationship Id="rId7" Type="http://schemas.openxmlformats.org/officeDocument/2006/relationships/hyperlink" Target="https://proceedings.mlsys.org/paper_files/paper/2026/hash/554e056fe2b6d9fd27ffcd3367ae1267-Abstract-Conference.html" TargetMode="External"/><Relationship Id="rId8" Type="http://schemas.openxmlformats.org/officeDocument/2006/relationships/hyperlink" Target="https://arxiv.org/abs/2604.09557" TargetMode="External"/><Relationship Id="rId9" Type="http://schemas.openxmlformats.org/officeDocument/2006/relationships/hyperlink" Target="https://github.com/edgeai1/speculative-decoding-knowledge-base/blob/main/landscape/incremental-update-2026-08-26.md" TargetMode="External"/><Relationship Id="rId10" Type="http://schemas.openxmlformats.org/officeDocument/2006/relationships/hyperlink" Target="https://github.com/edgeai1/speculative-decoding-knowledge-base/blob/main/README.md" TargetMode="External"/><Relationship Id="rId11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研究报告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投机解码：从算法加速到系统协同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58800" y="2222500"/>
            <a:ext cx="10566400" cy="5568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5282C"/>
                </a:solidFill>
                <a:latin typeface="Microsoft YaHei"/>
                <a:ea typeface="Microsoft YaHei"/>
              </a:rPr>
              <a:t>机制、证据、性能边界与研究机会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213100"/>
            <a:ext cx="10490200" cy="436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861F2D"/>
                </a:solidFill>
                <a:latin typeface="Microsoft YaHei"/>
                <a:ea typeface="Microsoft YaHei"/>
              </a:rPr>
              <a:t>核心命题：真正值得优化的是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624579"/>
            <a:ext cx="10490200" cy="436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861F2D"/>
                </a:solidFill>
                <a:latin typeface="Microsoft YaHei"/>
                <a:ea typeface="Microsoft YaHei"/>
              </a:rPr>
              <a:t>单位真实成本下，可严格提交的有效前缀。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1500" y="4635500"/>
            <a:ext cx="3048000" cy="0"/>
          </a:xfrm>
          <a:prstGeom prst="line">
            <a:avLst/>
          </a:prstGeom>
          <a:ln w="1270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1500" y="4813300"/>
            <a:ext cx="3327400" cy="539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861F2D"/>
                </a:solidFill>
                <a:latin typeface="Microsoft YaHei"/>
                <a:ea typeface="Microsoft YaHei"/>
              </a:rPr>
              <a:t>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486400"/>
            <a:ext cx="33274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B73"/>
                </a:solidFill>
                <a:latin typeface="Microsoft YaHei"/>
                <a:ea typeface="Microsoft YaHei"/>
              </a:rPr>
              <a:t>篇核心精读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16400" y="4635500"/>
            <a:ext cx="3048000" cy="0"/>
          </a:xfrm>
          <a:prstGeom prst="line">
            <a:avLst/>
          </a:prstGeom>
          <a:ln w="1270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16400" y="4813300"/>
            <a:ext cx="3327400" cy="539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861F2D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6400" y="5486400"/>
            <a:ext cx="33274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B73"/>
                </a:solidFill>
                <a:latin typeface="Microsoft YaHei"/>
                <a:ea typeface="Microsoft YaHei"/>
              </a:rPr>
              <a:t>条知识库主线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61300" y="4635500"/>
            <a:ext cx="3048000" cy="0"/>
          </a:xfrm>
          <a:prstGeom prst="line">
            <a:avLst/>
          </a:prstGeom>
          <a:ln w="1270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61300" y="4813300"/>
            <a:ext cx="3327400" cy="539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861F2D"/>
                </a:solidFill>
                <a:latin typeface="Microsoft YaHei"/>
                <a:ea typeface="Microsoft YaHei"/>
              </a:rPr>
              <a:t>2026.08.26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1300" y="5486400"/>
            <a:ext cx="33274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B73"/>
                </a:solidFill>
                <a:latin typeface="Microsoft YaHei"/>
                <a:ea typeface="Microsoft YaHei"/>
              </a:rPr>
              <a:t>增量证据截止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6083300"/>
            <a:ext cx="10693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中文学术汇报 · 20 页 · 核心快照：2026.08.10 · 编制：2026.09.11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600" y="6515100"/>
            <a:ext cx="1473485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2"/>
              </a:rPr>
              <a:t>[KB] 知识库：范围与证据状态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11685" y="6515100"/>
            <a:ext cx="1350518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3"/>
              </a:rPr>
              <a:t>[INC] 2026-08-26 增量核验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01  核心洞察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四个判断：投机解码的价值来自协同优化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20800"/>
            <a:ext cx="111379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以下为基于知识库的综合判断；“收益”均需在匹配硬件、负载和正确性约束下验证。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33400" y="2082800"/>
            <a:ext cx="5461000" cy="1600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900" y="2247900"/>
            <a:ext cx="4699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61F2D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1900" y="2247900"/>
            <a:ext cx="45847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61F2D"/>
                </a:solidFill>
                <a:latin typeface="Microsoft YaHei"/>
                <a:ea typeface="Microsoft YaHei"/>
              </a:rPr>
              <a:t>优化对象是有效前缀 / 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2730500"/>
            <a:ext cx="50927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接受长度提高，可能同时增加草稿、验证和缓存开销；应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2996247"/>
            <a:ext cx="50927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观察 TPOT 与满足 SLO 的吞吐。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7600" y="2082800"/>
            <a:ext cx="5461000" cy="1600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8100" y="2247900"/>
            <a:ext cx="4699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61F2D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6100" y="2247900"/>
            <a:ext cx="45847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61F2D"/>
                </a:solidFill>
                <a:latin typeface="Microsoft YaHei"/>
                <a:ea typeface="Microsoft YaHei"/>
              </a:rPr>
              <a:t>并行性与因果性必须兼顾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8100" y="2730500"/>
            <a:ext cx="50927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并行块缩短起草路径，但后续位置需要与已采候选相容；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8100" y="2996247"/>
            <a:ext cx="50927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半自回归头和树结构成为重点。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3886200"/>
            <a:ext cx="5461000" cy="1600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900" y="4051300"/>
            <a:ext cx="4699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61F2D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1900" y="4051300"/>
            <a:ext cx="45847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61F2D"/>
                </a:solidFill>
                <a:latin typeface="Microsoft YaHei"/>
                <a:ea typeface="Microsoft YaHei"/>
              </a:rPr>
              <a:t>无损保证属于完整流程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4533900"/>
            <a:ext cx="50927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实际 proposal 概率、拒绝校正、树掩码、状态回退和调度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4799647"/>
            <a:ext cx="50927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决策共同决定正确性。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7600" y="3886200"/>
            <a:ext cx="5461000" cy="1600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8100" y="4051300"/>
            <a:ext cx="4699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61F2D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6100" y="4051300"/>
            <a:ext cx="45847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61F2D"/>
                </a:solidFill>
                <a:latin typeface="Microsoft YaHei"/>
                <a:ea typeface="Microsoft YaHei"/>
              </a:rPr>
              <a:t>最优配置随工作负载改变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8100" y="4533900"/>
            <a:ext cx="50927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上下文长度、并发、重复度与模型结构改变成本；固定草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8100" y="4799647"/>
            <a:ext cx="50927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稿长度难以覆盖整个运行区间。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5778500"/>
            <a:ext cx="11125200" cy="469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3400" y="5778500"/>
            <a:ext cx="38100" cy="4699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8500" y="5880100"/>
            <a:ext cx="107823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5282C"/>
                </a:solidFill>
                <a:latin typeface="Microsoft YaHei"/>
                <a:ea typeface="Microsoft YaHei"/>
              </a:rPr>
              <a:t>研究重心：从“更准的草稿”推进到“可证明正确、可测量成本、可适应负载”。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600" y="6515100"/>
            <a:ext cx="97628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2"/>
              </a:rPr>
              <a:t>[CMP] 跨论文比较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14480" y="6515100"/>
            <a:ext cx="1350518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3"/>
              </a:rPr>
              <a:t>[INC] 2026-08-26 增量核验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39598" y="6515100"/>
            <a:ext cx="2036318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4"/>
              </a:rPr>
              <a:t>[PI] Performance or Illusion?, MLSys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02  基础机制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加速从何而来：用一次验证摊薄串行解码成本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20800"/>
            <a:ext cx="111379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主要针对 decode 阶段；对长输入 prefill 和完整应用链路的收益需单独计量。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8800" y="2082800"/>
            <a:ext cx="108204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282C"/>
                </a:solidFill>
                <a:latin typeface="Microsoft YaHei"/>
                <a:ea typeface="Microsoft YaHei"/>
              </a:rPr>
              <a:t>串行解码：每推进一个 token，都执行一次 target 前向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2616200"/>
            <a:ext cx="1841500" cy="584200"/>
          </a:xfrm>
          <a:prstGeom prst="rect">
            <a:avLst/>
          </a:prstGeom>
          <a:solidFill>
            <a:srgbClr val="F3F4F5"/>
          </a:solidFill>
          <a:ln w="1270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2755900"/>
            <a:ext cx="16256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5282C"/>
                </a:solidFill>
                <a:latin typeface="Microsoft YaHei"/>
                <a:ea typeface="Microsoft YaHei"/>
              </a:rPr>
              <a:t>Target → x1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9200" y="2743200"/>
            <a:ext cx="3175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66B73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8600" y="2616200"/>
            <a:ext cx="1841500" cy="584200"/>
          </a:xfrm>
          <a:prstGeom prst="rect">
            <a:avLst/>
          </a:prstGeom>
          <a:solidFill>
            <a:srgbClr val="F3F4F5"/>
          </a:solidFill>
          <a:ln w="1270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1000" y="2755900"/>
            <a:ext cx="16256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5282C"/>
                </a:solidFill>
                <a:latin typeface="Microsoft YaHei"/>
                <a:ea typeface="Microsoft YaHei"/>
              </a:rPr>
              <a:t>Target → 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6300" y="2743200"/>
            <a:ext cx="3175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66B73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5700" y="2616200"/>
            <a:ext cx="1841500" cy="584200"/>
          </a:xfrm>
          <a:prstGeom prst="rect">
            <a:avLst/>
          </a:prstGeom>
          <a:solidFill>
            <a:srgbClr val="F3F4F5"/>
          </a:solidFill>
          <a:ln w="1270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8100" y="2755900"/>
            <a:ext cx="16256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5282C"/>
                </a:solidFill>
                <a:latin typeface="Microsoft YaHei"/>
                <a:ea typeface="Microsoft YaHei"/>
              </a:rPr>
              <a:t>Target → x3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3400" y="2743200"/>
            <a:ext cx="3175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66B73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2800" y="2616200"/>
            <a:ext cx="1841500" cy="584200"/>
          </a:xfrm>
          <a:prstGeom prst="rect">
            <a:avLst/>
          </a:prstGeom>
          <a:solidFill>
            <a:srgbClr val="F3F4F5"/>
          </a:solidFill>
          <a:ln w="1270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755900"/>
            <a:ext cx="16256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5282C"/>
                </a:solidFill>
                <a:latin typeface="Microsoft YaHei"/>
                <a:ea typeface="Microsoft YaHei"/>
              </a:rPr>
              <a:t>Target → x4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0500" y="2743200"/>
            <a:ext cx="3175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66B73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59900" y="2616200"/>
            <a:ext cx="1841500" cy="584200"/>
          </a:xfrm>
          <a:prstGeom prst="rect">
            <a:avLst/>
          </a:prstGeom>
          <a:solidFill>
            <a:srgbClr val="F3F4F5"/>
          </a:solidFill>
          <a:ln w="1270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12300" y="2755900"/>
            <a:ext cx="16256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5282C"/>
                </a:solidFill>
                <a:latin typeface="Microsoft YaHei"/>
                <a:ea typeface="Microsoft YaHei"/>
              </a:rPr>
              <a:t>Target → x5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800" y="3530600"/>
            <a:ext cx="108204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282C"/>
                </a:solidFill>
                <a:latin typeface="Microsoft YaHei"/>
                <a:ea typeface="Microsoft YaHei"/>
              </a:rPr>
              <a:t>投机解码：轻量起草 → 并行验证 → 提交连续前缀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4076700"/>
            <a:ext cx="2921000" cy="1130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600" y="4229100"/>
            <a:ext cx="26162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61F2D"/>
                </a:solidFill>
                <a:latin typeface="Microsoft YaHei"/>
                <a:ea typeface="Microsoft YaHei"/>
              </a:rPr>
              <a:t>1  Draft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600" y="4737100"/>
            <a:ext cx="2616200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5282C"/>
                </a:solidFill>
                <a:latin typeface="Microsoft YaHei"/>
                <a:ea typeface="Microsoft YaHei"/>
              </a:rPr>
              <a:t>候选：x1 x2 x3 x4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89400" y="4076700"/>
            <a:ext cx="3403600" cy="1130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4500" y="4229100"/>
            <a:ext cx="30988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61F2D"/>
                </a:solidFill>
                <a:latin typeface="Microsoft YaHei"/>
                <a:ea typeface="Microsoft YaHei"/>
              </a:rPr>
              <a:t>2  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4500" y="4737100"/>
            <a:ext cx="3098800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5282C"/>
                </a:solidFill>
                <a:latin typeface="Microsoft YaHei"/>
                <a:ea typeface="Microsoft YaHei"/>
              </a:rPr>
              <a:t>一次计算各位置 target 分布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2600" y="4076700"/>
            <a:ext cx="3517900" cy="1130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7700" y="4229100"/>
            <a:ext cx="32131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61F2D"/>
                </a:solidFill>
                <a:latin typeface="Microsoft YaHei"/>
                <a:ea typeface="Microsoft YaHei"/>
              </a:rPr>
              <a:t>3  Commit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7700" y="4737100"/>
            <a:ext cx="3213100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5282C"/>
                </a:solidFill>
                <a:latin typeface="Microsoft YaHei"/>
                <a:ea typeface="Microsoft YaHei"/>
              </a:rPr>
              <a:t>接受前缀 + 校正 / bonus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9500" y="4381500"/>
            <a:ext cx="393700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666B73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300" y="4381500"/>
            <a:ext cx="393700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666B73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3400" y="5778500"/>
            <a:ext cx="11125200" cy="469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3400" y="5778500"/>
            <a:ext cx="38100" cy="4699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500" y="5880100"/>
            <a:ext cx="107823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5282C"/>
                </a:solidFill>
                <a:latin typeface="Microsoft YaHei"/>
                <a:ea typeface="Microsoft YaHei"/>
              </a:rPr>
              <a:t>成立条件：草稿与额外验证的开销，小于省去的多轮 target 串行执行。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3600" y="6515100"/>
            <a:ext cx="1668367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2"/>
              </a:rPr>
              <a:t>[LEVI] Leviathan et al., ICML 2023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06567" y="6515100"/>
            <a:ext cx="1283938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3"/>
              </a:rPr>
              <a:t>[CHEN] Chen et al., 2023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65105" y="6515100"/>
            <a:ext cx="852169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4"/>
              </a:rPr>
              <a:t>[TAX] 方法谱系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02  基础机制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严格采样：接受与残差校正一起恢复目标分布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20800"/>
            <a:ext cx="111379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p 为 target 分布，q 为实际生成候选的 proposal 分布；所有概率均以同一已确认前缀为条件。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6100" y="2095500"/>
            <a:ext cx="5219700" cy="3263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300" y="2286000"/>
            <a:ext cx="48514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61F2D"/>
                </a:solidFill>
                <a:latin typeface="Microsoft YaHei"/>
                <a:ea typeface="Microsoft YaHei"/>
              </a:rPr>
              <a:t>候选 x ~ q 的接受概率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300" y="2768600"/>
            <a:ext cx="48260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5282C"/>
                </a:solidFill>
                <a:latin typeface="Microsoft YaHei"/>
                <a:ea typeface="Microsoft YaHei"/>
              </a:rPr>
              <a:t>a(x) = min(1, p(x) / q(x))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300" y="3492500"/>
            <a:ext cx="48514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61F2D"/>
                </a:solidFill>
                <a:latin typeface="Microsoft YaHei"/>
                <a:ea typeface="Microsoft YaHei"/>
              </a:rPr>
              <a:t>拒绝后采样归一化残差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300" y="3962400"/>
            <a:ext cx="4826000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5282C"/>
                </a:solidFill>
                <a:latin typeface="Microsoft YaHei"/>
                <a:ea typeface="Microsoft YaHei"/>
              </a:rPr>
              <a:t>r(x) ∝ max(p(x) − q(x),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749800"/>
            <a:ext cx="47498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282C"/>
                </a:solidFill>
                <a:latin typeface="Microsoft YaHei"/>
                <a:ea typeface="Microsoft YaHei"/>
              </a:rPr>
              <a:t>平均接受率 α = 1 − TV(p, q)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08700" y="2108200"/>
            <a:ext cx="5486400" cy="4064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3000" y="2197100"/>
            <a:ext cx="14351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示例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1300" y="2197100"/>
            <a:ext cx="10795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197100"/>
            <a:ext cx="10795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6700" y="2197100"/>
            <a:ext cx="10795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000" y="2628900"/>
            <a:ext cx="1435100" cy="263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61F2D"/>
                </a:solidFill>
                <a:latin typeface="Microsoft YaHei"/>
                <a:ea typeface="Microsoft YaHei"/>
              </a:rPr>
              <a:t>目标 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1300" y="2628900"/>
            <a:ext cx="1079500" cy="263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5282C"/>
                </a:solidFill>
                <a:latin typeface="Microsoft YaHei"/>
                <a:ea typeface="Microsoft YaHei"/>
              </a:rPr>
              <a:t>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28900"/>
            <a:ext cx="1079500" cy="263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5282C"/>
                </a:solidFill>
                <a:latin typeface="Microsoft YaHei"/>
                <a:ea typeface="Microsoft YaHei"/>
              </a:rPr>
              <a:t>0.3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6700" y="2628900"/>
            <a:ext cx="1079500" cy="263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5282C"/>
                </a:solidFill>
                <a:latin typeface="Microsoft YaHei"/>
                <a:ea typeface="Microsoft YaHei"/>
              </a:rPr>
              <a:t>0.2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08700" y="3098800"/>
            <a:ext cx="54864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108700" y="3098800"/>
            <a:ext cx="5486400" cy="584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3000" y="3213100"/>
            <a:ext cx="1435100" cy="263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61F2D"/>
                </a:solidFill>
                <a:latin typeface="Microsoft YaHei"/>
                <a:ea typeface="Microsoft YaHei"/>
              </a:rPr>
              <a:t>提案 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1300" y="3213100"/>
            <a:ext cx="1079500" cy="263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5282C"/>
                </a:solidFill>
                <a:latin typeface="Microsoft YaHei"/>
                <a:ea typeface="Microsoft YaHei"/>
              </a:rPr>
              <a:t>0.2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213100"/>
            <a:ext cx="1079500" cy="263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5282C"/>
                </a:solidFill>
                <a:latin typeface="Microsoft YaHei"/>
                <a:ea typeface="Microsoft YaHei"/>
              </a:rPr>
              <a:t>0.5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6700" y="3213100"/>
            <a:ext cx="1079500" cy="263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5282C"/>
                </a:solidFill>
                <a:latin typeface="Microsoft YaHei"/>
                <a:ea typeface="Microsoft YaHei"/>
              </a:rPr>
              <a:t>0.3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08700" y="3683000"/>
            <a:ext cx="54864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23000" y="3797300"/>
            <a:ext cx="1435100" cy="263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61F2D"/>
                </a:solidFill>
                <a:latin typeface="Microsoft YaHei"/>
                <a:ea typeface="Microsoft YaHei"/>
              </a:rPr>
              <a:t>接受质量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1300" y="3797300"/>
            <a:ext cx="1079500" cy="263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5282C"/>
                </a:solidFill>
                <a:latin typeface="Microsoft YaHei"/>
                <a:ea typeface="Microsoft YaHei"/>
              </a:rPr>
              <a:t>0.2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797300"/>
            <a:ext cx="1079500" cy="263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5282C"/>
                </a:solidFill>
                <a:latin typeface="Microsoft YaHei"/>
                <a:ea typeface="Microsoft YaHei"/>
              </a:rPr>
              <a:t>0.3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6700" y="3797300"/>
            <a:ext cx="1079500" cy="263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5282C"/>
                </a:solidFill>
                <a:latin typeface="Microsoft YaHei"/>
                <a:ea typeface="Microsoft YaHei"/>
              </a:rPr>
              <a:t>0.2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08700" y="4267200"/>
            <a:ext cx="54864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108700" y="4267200"/>
            <a:ext cx="5486400" cy="584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4381500"/>
            <a:ext cx="1435100" cy="263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61F2D"/>
                </a:solidFill>
                <a:latin typeface="Microsoft YaHei"/>
                <a:ea typeface="Microsoft YaHei"/>
              </a:rPr>
              <a:t>补回质量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1300" y="4381500"/>
            <a:ext cx="1079500" cy="263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5282C"/>
                </a:solidFill>
                <a:latin typeface="Microsoft YaHei"/>
                <a:ea typeface="Microsoft YaHei"/>
              </a:rPr>
              <a:t>0.3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381500"/>
            <a:ext cx="1079500" cy="263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5282C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6700" y="4381500"/>
            <a:ext cx="1079500" cy="263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5282C"/>
                </a:solidFill>
                <a:latin typeface="Microsoft YaHei"/>
                <a:ea typeface="Microsoft YaHei"/>
              </a:rPr>
              <a:t>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08700" y="4851400"/>
            <a:ext cx="54864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48400" y="5016500"/>
            <a:ext cx="5181600" cy="2654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B73"/>
                </a:solidFill>
                <a:latin typeface="Microsoft YaHei"/>
                <a:ea typeface="Microsoft YaHei"/>
              </a:rPr>
              <a:t>0.7 的接受质量 + 0.3 的校正质量 = 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3400" y="5778500"/>
            <a:ext cx="11125200" cy="469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3400" y="5778500"/>
            <a:ext cx="38100" cy="4699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8500" y="5880100"/>
            <a:ext cx="107823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5282C"/>
                </a:solidFill>
                <a:latin typeface="Microsoft YaHei"/>
                <a:ea typeface="Microsoft YaHei"/>
              </a:rPr>
              <a:t>“target 验证过”不足以证明无损；必须核对实际 q、接受规则和残差更新。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3600" y="6515100"/>
            <a:ext cx="1668367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2"/>
              </a:rPr>
              <a:t>[LEVI] Leviathan et al., ICML 2023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06567" y="6515100"/>
            <a:ext cx="1283938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3"/>
              </a:rPr>
              <a:t>[CHEN] Chen et al., 2023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65105" y="6515100"/>
            <a:ext cx="1251648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4"/>
              </a:rPr>
              <a:t>[GLO] 术语与正确性边界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02  性能边界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收益方程：接受长度与每轮成本共同决定加速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20800"/>
            <a:ext cx="111379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图为简化模型推演，非论文跑分；各位置条件接受率假设相同，且每轮含一个校正或 bonus token。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8800" y="2082800"/>
            <a:ext cx="52705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282C"/>
                </a:solidFill>
                <a:latin typeface="Microsoft YaHei"/>
                <a:ea typeface="Microsoft YaHei"/>
              </a:rPr>
              <a:t>L/token = (Tdraft + Tverify + Tother) / E[τ]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2794000"/>
            <a:ext cx="49530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61F2D"/>
                </a:solidFill>
                <a:latin typeface="Microsoft YaHei"/>
                <a:ea typeface="Microsoft YaHei"/>
              </a:rPr>
              <a:t>E[τ] = 1 + α + … + α^K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3136900"/>
            <a:ext cx="49530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61F2D"/>
                </a:solidFill>
                <a:latin typeface="Microsoft YaHei"/>
                <a:ea typeface="Microsoft YaHei"/>
              </a:rPr>
              <a:t>S ≈ TAR × E[τ] / Tround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3975100"/>
            <a:ext cx="49149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5282C"/>
                </a:solidFill>
                <a:latin typeface="Microsoft YaHei"/>
                <a:ea typeface="Microsoft YaHei"/>
              </a:rPr>
              <a:t>• 接受率升高不保证墙钟更快。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4249420"/>
            <a:ext cx="49149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5282C"/>
                </a:solidFill>
                <a:latin typeface="Microsoft YaHei"/>
                <a:ea typeface="Microsoft YaHei"/>
              </a:rPr>
              <a:t>• 长草稿收益会饱和，成本仍增加。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523740"/>
            <a:ext cx="49149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5282C"/>
                </a:solidFill>
                <a:latin typeface="Microsoft YaHei"/>
                <a:ea typeface="Microsoft YaHei"/>
              </a:rPr>
              <a:t>• 难请求、短输出、小 target 更容易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800" y="4798060"/>
            <a:ext cx="49149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5282C"/>
                </a:solidFill>
                <a:latin typeface="Microsoft YaHei"/>
                <a:ea typeface="Microsoft YaHei"/>
              </a:rPr>
              <a:t>  被固定开销抵消。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26200" y="4707021"/>
            <a:ext cx="4864100" cy="0"/>
          </a:xfrm>
          <a:prstGeom prst="line">
            <a:avLst/>
          </a:prstGeom>
          <a:ln w="889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83300" y="4605421"/>
            <a:ext cx="3175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26200" y="4011863"/>
            <a:ext cx="4864100" cy="0"/>
          </a:xfrm>
          <a:prstGeom prst="line">
            <a:avLst/>
          </a:prstGeom>
          <a:ln w="889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83300" y="3910263"/>
            <a:ext cx="3175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26200" y="3316705"/>
            <a:ext cx="4864100" cy="0"/>
          </a:xfrm>
          <a:prstGeom prst="line">
            <a:avLst/>
          </a:prstGeom>
          <a:ln w="889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83300" y="3215105"/>
            <a:ext cx="3175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26200" y="2621547"/>
            <a:ext cx="4864100" cy="0"/>
          </a:xfrm>
          <a:prstGeom prst="line">
            <a:avLst/>
          </a:prstGeom>
          <a:ln w="889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83300" y="2519947"/>
            <a:ext cx="3175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26200" y="5054600"/>
            <a:ext cx="4864100" cy="0"/>
          </a:xfrm>
          <a:prstGeom prst="line">
            <a:avLst/>
          </a:prstGeom>
          <a:ln w="12700">
            <a:solidFill>
              <a:srgbClr val="66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18300" y="5346700"/>
            <a:ext cx="447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草稿长度 K（TAR = 1，Tround = 1 + 0.14K）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2700" y="5118100"/>
            <a:ext cx="3429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9272" y="5118100"/>
            <a:ext cx="3429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8036" y="5118100"/>
            <a:ext cx="3429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26800" y="5118100"/>
            <a:ext cx="3429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12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6426200" y="3930399"/>
            <a:ext cx="442190" cy="313183"/>
          </a:xfrm>
          <a:prstGeom prst="line">
            <a:avLst/>
          </a:prstGeom>
          <a:ln w="25400">
            <a:solidFill>
              <a:srgbClr val="861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868390" y="3718624"/>
            <a:ext cx="442191" cy="211775"/>
          </a:xfrm>
          <a:prstGeom prst="line">
            <a:avLst/>
          </a:prstGeom>
          <a:ln w="25400">
            <a:solidFill>
              <a:srgbClr val="861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310581" y="3577344"/>
            <a:ext cx="442191" cy="141280"/>
          </a:xfrm>
          <a:prstGeom prst="line">
            <a:avLst/>
          </a:prstGeom>
          <a:ln w="25400">
            <a:solidFill>
              <a:srgbClr val="861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752772" y="3486164"/>
            <a:ext cx="442191" cy="91180"/>
          </a:xfrm>
          <a:prstGeom prst="line">
            <a:avLst/>
          </a:prstGeom>
          <a:ln w="25400">
            <a:solidFill>
              <a:srgbClr val="861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194963" y="3431167"/>
            <a:ext cx="442191" cy="54997"/>
          </a:xfrm>
          <a:prstGeom prst="line">
            <a:avLst/>
          </a:prstGeom>
          <a:ln w="25400">
            <a:solidFill>
              <a:srgbClr val="861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637154" y="3402607"/>
            <a:ext cx="442191" cy="28560"/>
          </a:xfrm>
          <a:prstGeom prst="line">
            <a:avLst/>
          </a:prstGeom>
          <a:ln w="25400">
            <a:solidFill>
              <a:srgbClr val="861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079345" y="3393502"/>
            <a:ext cx="442191" cy="9105"/>
          </a:xfrm>
          <a:prstGeom prst="line">
            <a:avLst/>
          </a:prstGeom>
          <a:ln w="25400">
            <a:solidFill>
              <a:srgbClr val="861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521536" y="3393502"/>
            <a:ext cx="442191" cy="5264"/>
          </a:xfrm>
          <a:prstGeom prst="line">
            <a:avLst/>
          </a:prstGeom>
          <a:ln w="25400">
            <a:solidFill>
              <a:srgbClr val="861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963727" y="3398766"/>
            <a:ext cx="442191" cy="15871"/>
          </a:xfrm>
          <a:prstGeom prst="line">
            <a:avLst/>
          </a:prstGeom>
          <a:ln w="25400">
            <a:solidFill>
              <a:srgbClr val="861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405918" y="3414637"/>
            <a:ext cx="442191" cy="23664"/>
          </a:xfrm>
          <a:prstGeom prst="line">
            <a:avLst/>
          </a:prstGeom>
          <a:ln w="25400">
            <a:solidFill>
              <a:srgbClr val="861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848109" y="3438301"/>
            <a:ext cx="442191" cy="29332"/>
          </a:xfrm>
          <a:prstGeom prst="line">
            <a:avLst/>
          </a:prstGeom>
          <a:ln w="25400">
            <a:solidFill>
              <a:srgbClr val="861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248900" y="3175533"/>
            <a:ext cx="11684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61F2D"/>
                </a:solidFill>
                <a:latin typeface="Microsoft YaHei"/>
                <a:ea typeface="Microsoft YaHei"/>
              </a:rPr>
              <a:t>α = 0.9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6426200" y="4212807"/>
            <a:ext cx="442190" cy="152732"/>
          </a:xfrm>
          <a:prstGeom prst="line">
            <a:avLst/>
          </a:prstGeom>
          <a:ln w="25400">
            <a:solidFill>
              <a:srgbClr val="66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868390" y="4162154"/>
            <a:ext cx="442191" cy="50653"/>
          </a:xfrm>
          <a:prstGeom prst="line">
            <a:avLst/>
          </a:prstGeom>
          <a:ln w="25400">
            <a:solidFill>
              <a:srgbClr val="66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310581" y="4162154"/>
            <a:ext cx="442191" cy="4292"/>
          </a:xfrm>
          <a:prstGeom prst="line">
            <a:avLst/>
          </a:prstGeom>
          <a:ln w="25400">
            <a:solidFill>
              <a:srgbClr val="66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752772" y="4166446"/>
            <a:ext cx="442191" cy="33040"/>
          </a:xfrm>
          <a:prstGeom prst="line">
            <a:avLst/>
          </a:prstGeom>
          <a:ln w="25400">
            <a:solidFill>
              <a:srgbClr val="66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194963" y="4199486"/>
            <a:ext cx="442191" cy="47061"/>
          </a:xfrm>
          <a:prstGeom prst="line">
            <a:avLst/>
          </a:prstGeom>
          <a:ln w="25400">
            <a:solidFill>
              <a:srgbClr val="66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637154" y="4246547"/>
            <a:ext cx="442191" cy="52797"/>
          </a:xfrm>
          <a:prstGeom prst="line">
            <a:avLst/>
          </a:prstGeom>
          <a:ln w="25400">
            <a:solidFill>
              <a:srgbClr val="66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079345" y="4299344"/>
            <a:ext cx="442191" cy="53926"/>
          </a:xfrm>
          <a:prstGeom prst="line">
            <a:avLst/>
          </a:prstGeom>
          <a:ln w="25400">
            <a:solidFill>
              <a:srgbClr val="66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521536" y="4353270"/>
            <a:ext cx="442191" cy="52564"/>
          </a:xfrm>
          <a:prstGeom prst="line">
            <a:avLst/>
          </a:prstGeom>
          <a:ln w="25400">
            <a:solidFill>
              <a:srgbClr val="66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963727" y="4405834"/>
            <a:ext cx="442191" cy="49938"/>
          </a:xfrm>
          <a:prstGeom prst="line">
            <a:avLst/>
          </a:prstGeom>
          <a:ln w="25400">
            <a:solidFill>
              <a:srgbClr val="66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405918" y="4455772"/>
            <a:ext cx="442191" cy="46753"/>
          </a:xfrm>
          <a:prstGeom prst="line">
            <a:avLst/>
          </a:prstGeom>
          <a:ln w="25400">
            <a:solidFill>
              <a:srgbClr val="66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848109" y="4502525"/>
            <a:ext cx="442191" cy="43406"/>
          </a:xfrm>
          <a:prstGeom prst="line">
            <a:avLst/>
          </a:prstGeom>
          <a:ln w="25400">
            <a:solidFill>
              <a:srgbClr val="66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248900" y="4253831"/>
            <a:ext cx="11684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6B73"/>
                </a:solidFill>
                <a:latin typeface="Microsoft YaHei"/>
                <a:ea typeface="Microsoft YaHei"/>
              </a:rPr>
              <a:t>α = 0.7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6426200" y="4451767"/>
            <a:ext cx="442190" cy="35730"/>
          </a:xfrm>
          <a:prstGeom prst="line">
            <a:avLst/>
          </a:prstGeom>
          <a:ln w="25400">
            <a:solidFill>
              <a:srgbClr val="9EA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868390" y="4451767"/>
            <a:ext cx="442191" cy="32509"/>
          </a:xfrm>
          <a:prstGeom prst="line">
            <a:avLst/>
          </a:prstGeom>
          <a:ln w="25400">
            <a:solidFill>
              <a:srgbClr val="9EA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0581" y="4484276"/>
            <a:ext cx="442191" cy="54525"/>
          </a:xfrm>
          <a:prstGeom prst="line">
            <a:avLst/>
          </a:prstGeom>
          <a:ln w="25400">
            <a:solidFill>
              <a:srgbClr val="9EA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752772" y="4538801"/>
            <a:ext cx="442191" cy="58323"/>
          </a:xfrm>
          <a:prstGeom prst="line">
            <a:avLst/>
          </a:prstGeom>
          <a:ln w="25400">
            <a:solidFill>
              <a:srgbClr val="9EA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194963" y="4597124"/>
            <a:ext cx="442191" cy="55351"/>
          </a:xfrm>
          <a:prstGeom prst="line">
            <a:avLst/>
          </a:prstGeom>
          <a:ln w="25400">
            <a:solidFill>
              <a:srgbClr val="9EA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637154" y="4652475"/>
            <a:ext cx="442191" cy="50267"/>
          </a:xfrm>
          <a:prstGeom prst="line">
            <a:avLst/>
          </a:prstGeom>
          <a:ln w="25400">
            <a:solidFill>
              <a:srgbClr val="9EA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079345" y="4702742"/>
            <a:ext cx="442191" cy="44908"/>
          </a:xfrm>
          <a:prstGeom prst="line">
            <a:avLst/>
          </a:prstGeom>
          <a:ln w="25400">
            <a:solidFill>
              <a:srgbClr val="9EA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21536" y="4747650"/>
            <a:ext cx="442191" cy="39945"/>
          </a:xfrm>
          <a:prstGeom prst="line">
            <a:avLst/>
          </a:prstGeom>
          <a:ln w="25400">
            <a:solidFill>
              <a:srgbClr val="9EA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963727" y="4787595"/>
            <a:ext cx="442191" cy="35568"/>
          </a:xfrm>
          <a:prstGeom prst="line">
            <a:avLst/>
          </a:prstGeom>
          <a:ln w="25400">
            <a:solidFill>
              <a:srgbClr val="9EA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405918" y="4823163"/>
            <a:ext cx="442191" cy="31781"/>
          </a:xfrm>
          <a:prstGeom prst="line">
            <a:avLst/>
          </a:prstGeom>
          <a:ln w="25400">
            <a:solidFill>
              <a:srgbClr val="9EA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848109" y="4854944"/>
            <a:ext cx="442191" cy="28523"/>
          </a:xfrm>
          <a:prstGeom prst="line">
            <a:avLst/>
          </a:prstGeom>
          <a:ln w="25400">
            <a:solidFill>
              <a:srgbClr val="9EA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0248900" y="4591367"/>
            <a:ext cx="11684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EA3AA"/>
                </a:solidFill>
                <a:latin typeface="Microsoft YaHei"/>
                <a:ea typeface="Microsoft YaHei"/>
              </a:rPr>
              <a:t>α = 0.5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38900" y="2070100"/>
            <a:ext cx="48133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相对串行基线加速比 S（示意）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3400" y="5778500"/>
            <a:ext cx="11125200" cy="469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33400" y="5778500"/>
            <a:ext cx="38100" cy="4699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8500" y="5880100"/>
            <a:ext cx="107823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5282C"/>
                </a:solidFill>
                <a:latin typeface="Microsoft YaHei"/>
                <a:ea typeface="Microsoft YaHei"/>
              </a:rPr>
              <a:t>调参应直接最小化每 token 延迟，并使用逐位置接受曲线与实测 kernel 成本。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3600" y="6515100"/>
            <a:ext cx="1668367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2"/>
              </a:rPr>
              <a:t>[LEVI] Leviathan et al., ICML 2023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06567" y="6515100"/>
            <a:ext cx="1251648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3"/>
              </a:rPr>
              <a:t>[GLO] 术语与正确性边界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03  方法谱系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方法地图：先识别 proposal 来源，再比较系统代价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20800"/>
            <a:ext cx="111379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以下按起草机制归纳为六类；知识库的六个目录按研究问题组织，两种分类不完全重合。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6100" y="2032000"/>
            <a:ext cx="11125200" cy="4064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" y="2120900"/>
            <a:ext cx="15113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机制家族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4900" y="2120900"/>
            <a:ext cx="24130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代表方法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1100" y="2120900"/>
            <a:ext cx="22606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主要优势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4900" y="2120900"/>
            <a:ext cx="41275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代价 / 首要验证点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552700"/>
            <a:ext cx="15113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861F2D"/>
                </a:solidFill>
                <a:latin typeface="Microsoft YaHei"/>
                <a:ea typeface="Microsoft YaHei"/>
              </a:rPr>
              <a:t>独立小模型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4900" y="2552700"/>
            <a:ext cx="24130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5282C"/>
                </a:solidFill>
                <a:latin typeface="Microsoft YaHei"/>
                <a:ea typeface="Microsoft YaHei"/>
              </a:rPr>
              <a:t>标准 SD / DistillSpec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1100" y="2552700"/>
            <a:ext cx="22606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5282C"/>
                </a:solidFill>
                <a:latin typeface="Microsoft YaHei"/>
                <a:ea typeface="Microsoft YaHei"/>
              </a:rPr>
              <a:t>条件 q 明确；接口直接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4900" y="2552700"/>
            <a:ext cx="41275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5282C"/>
                </a:solidFill>
                <a:latin typeface="Microsoft YaHei"/>
                <a:ea typeface="Microsoft YaHei"/>
              </a:rPr>
              <a:t>额外权重与 KV；tokenizer 和领域对齐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6100" y="29718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46100" y="2971800"/>
            <a:ext cx="11125200" cy="533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086100"/>
            <a:ext cx="15113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861F2D"/>
                </a:solidFill>
                <a:latin typeface="Microsoft YaHei"/>
                <a:ea typeface="Microsoft YaHei"/>
              </a:rPr>
              <a:t>目标特征头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4900" y="3086100"/>
            <a:ext cx="24130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5282C"/>
                </a:solidFill>
                <a:latin typeface="Microsoft YaHei"/>
                <a:ea typeface="Microsoft YaHei"/>
              </a:rPr>
              <a:t>Medusa / EAGLE-3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1100" y="3086100"/>
            <a:ext cx="22606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5282C"/>
                </a:solidFill>
                <a:latin typeface="Microsoft YaHei"/>
                <a:ea typeface="Microsoft YaHei"/>
              </a:rPr>
              <a:t>复用 target 信息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4900" y="3086100"/>
            <a:ext cx="41275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5282C"/>
                </a:solidFill>
                <a:latin typeface="Microsoft YaHei"/>
                <a:ea typeface="Microsoft YaHei"/>
              </a:rPr>
              <a:t>专用训练；feature 读取与训练推理失配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6100" y="35052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60400" y="3619500"/>
            <a:ext cx="15113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861F2D"/>
                </a:solidFill>
                <a:latin typeface="Microsoft YaHei"/>
                <a:ea typeface="Microsoft YaHei"/>
              </a:rPr>
              <a:t>并行块 / MTP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4900" y="3619500"/>
            <a:ext cx="24130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5282C"/>
                </a:solidFill>
                <a:latin typeface="Microsoft YaHei"/>
                <a:ea typeface="Microsoft YaHei"/>
              </a:rPr>
              <a:t>PARD / DFlash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1100" y="3619500"/>
            <a:ext cx="22606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5282C"/>
                </a:solidFill>
                <a:latin typeface="Microsoft YaHei"/>
                <a:ea typeface="Microsoft YaHei"/>
              </a:rPr>
              <a:t>一次重前向预测多位置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4900" y="3619500"/>
            <a:ext cx="41275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5282C"/>
                </a:solidFill>
                <a:latin typeface="Microsoft YaHei"/>
                <a:ea typeface="Microsoft YaHei"/>
              </a:rPr>
              <a:t>候选组合一致性；实际 q 与校正规则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6100" y="40386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6100" y="4038600"/>
            <a:ext cx="11125200" cy="533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400" y="4152900"/>
            <a:ext cx="15113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861F2D"/>
                </a:solidFill>
                <a:latin typeface="Microsoft YaHei"/>
                <a:ea typeface="Microsoft YaHei"/>
              </a:rPr>
              <a:t>半自回归修正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4900" y="4152900"/>
            <a:ext cx="24130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5282C"/>
                </a:solidFill>
                <a:latin typeface="Microsoft YaHei"/>
                <a:ea typeface="Microsoft YaHei"/>
              </a:rPr>
              <a:t>Domino / DSpark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1100" y="4152900"/>
            <a:ext cx="22606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5282C"/>
                </a:solidFill>
                <a:latin typeface="Microsoft YaHei"/>
                <a:ea typeface="Microsoft YaHei"/>
              </a:rPr>
              <a:t>并行主干 + 轻量条件头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4900" y="4152900"/>
            <a:ext cx="41275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5282C"/>
                </a:solidFill>
                <a:latin typeface="Microsoft YaHei"/>
                <a:ea typeface="Microsoft YaHei"/>
              </a:rPr>
              <a:t>小顺序环、置信校准与调度开销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6100" y="45720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60400" y="4686300"/>
            <a:ext cx="15113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861F2D"/>
                </a:solidFill>
                <a:latin typeface="Microsoft YaHei"/>
                <a:ea typeface="Microsoft YaHei"/>
              </a:rPr>
              <a:t>自推测 / KV 裁剪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4900" y="4686300"/>
            <a:ext cx="24130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5282C"/>
                </a:solidFill>
                <a:latin typeface="Microsoft YaHei"/>
                <a:ea typeface="Microsoft YaHei"/>
              </a:rPr>
              <a:t>Draft &amp; Verify / MagicDec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1100" y="4686300"/>
            <a:ext cx="22606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5282C"/>
                </a:solidFill>
                <a:latin typeface="Microsoft YaHei"/>
                <a:ea typeface="Microsoft YaHei"/>
              </a:rPr>
              <a:t>复用模型；减少草稿读取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4900" y="4686300"/>
            <a:ext cx="41275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5282C"/>
                </a:solidFill>
                <a:latin typeface="Microsoft YaHei"/>
                <a:ea typeface="Microsoft YaHei"/>
              </a:rPr>
              <a:t>draft 与 target 状态隔离；回退成本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6100" y="51054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46100" y="5105400"/>
            <a:ext cx="11125200" cy="533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400" y="5219700"/>
            <a:ext cx="15113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861F2D"/>
                </a:solidFill>
                <a:latin typeface="Microsoft YaHei"/>
                <a:ea typeface="Microsoft YaHei"/>
              </a:rPr>
              <a:t>检索与历史复用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4900" y="5219700"/>
            <a:ext cx="24130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5282C"/>
                </a:solidFill>
                <a:latin typeface="Microsoft YaHei"/>
                <a:ea typeface="Microsoft YaHei"/>
              </a:rPr>
              <a:t>REST / Suffix / Oilbird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91100" y="5219700"/>
            <a:ext cx="22606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5282C"/>
                </a:solidFill>
                <a:latin typeface="Microsoft YaHei"/>
                <a:ea typeface="Microsoft YaHei"/>
              </a:rPr>
              <a:t>无需神经 draft 前向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4900" y="5219700"/>
            <a:ext cx="41275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5282C"/>
                </a:solidFill>
                <a:latin typeface="Microsoft YaHei"/>
                <a:ea typeface="Microsoft YaHei"/>
              </a:rPr>
              <a:t>重复度、索引成本与跨请求作用域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6100" y="56388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33400" y="5778500"/>
            <a:ext cx="11125200" cy="469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3400" y="5778500"/>
            <a:ext cx="38100" cy="4699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8500" y="5880100"/>
            <a:ext cx="107823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5282C"/>
                </a:solidFill>
                <a:latin typeface="Microsoft YaHei"/>
                <a:ea typeface="Microsoft YaHei"/>
              </a:rPr>
              <a:t>链 / 树、验证规则和 serving 策略是可组合维度；方法名称本身不代表正确性等级。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3600" y="6515100"/>
            <a:ext cx="852169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2"/>
              </a:rPr>
              <a:t>[TAX] 方法谱系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90370" y="6515100"/>
            <a:ext cx="97628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3"/>
              </a:rPr>
              <a:t>[CMP] 跨论文比较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03  方法谱系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演进主线：从减少串行步数到管理联合执行成本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20800"/>
            <a:ext cx="111379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时间线按代表性问题演化组织；同一时期的路线相互并行，早期方法仍有适用区间。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49300" y="2806700"/>
            <a:ext cx="10693400" cy="0"/>
          </a:xfrm>
          <a:prstGeom prst="line">
            <a:avLst/>
          </a:prstGeom>
          <a:ln w="2540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47700" y="2755900"/>
            <a:ext cx="101600" cy="101600"/>
          </a:xfrm>
          <a:prstGeom prst="ellipse">
            <a:avLst/>
          </a:prstGeom>
          <a:solidFill>
            <a:srgbClr val="861F2D"/>
          </a:solidFill>
          <a:ln w="12700">
            <a:solidFill>
              <a:srgbClr val="86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6100" y="2159000"/>
            <a:ext cx="21082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61F2D"/>
                </a:solidFill>
                <a:latin typeface="Microsoft YaHei"/>
                <a:ea typeface="Microsoft YaHei"/>
              </a:rPr>
              <a:t>2018–2023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100" y="3149600"/>
            <a:ext cx="20955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282C"/>
                </a:solidFill>
                <a:latin typeface="Microsoft YaHei"/>
                <a:ea typeface="Microsoft YaHei"/>
              </a:rPr>
              <a:t>建立精确校正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100" y="4000500"/>
            <a:ext cx="20955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66B73"/>
                </a:solidFill>
                <a:latin typeface="Microsoft YaHei"/>
                <a:ea typeface="Microsoft YaHei"/>
              </a:rPr>
              <a:t>Blockwise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4214812"/>
            <a:ext cx="20955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66B73"/>
                </a:solidFill>
                <a:latin typeface="Microsoft YaHei"/>
                <a:ea typeface="Microsoft YaHei"/>
              </a:rPr>
              <a:t>Leviathan / Chen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100" y="4953000"/>
            <a:ext cx="21336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从预测未来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100" y="5175885"/>
            <a:ext cx="21336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到保持目标分布</a:t>
            </a:r>
          </a:p>
        </p:txBody>
      </p:sp>
      <p:sp>
        <p:nvSpPr>
          <p:cNvPr id="14" name="Oval 13"/>
          <p:cNvSpPr/>
          <p:nvPr/>
        </p:nvSpPr>
        <p:spPr>
          <a:xfrm>
            <a:off x="2908300" y="2755900"/>
            <a:ext cx="101600" cy="101600"/>
          </a:xfrm>
          <a:prstGeom prst="ellipse">
            <a:avLst/>
          </a:prstGeom>
          <a:solidFill>
            <a:srgbClr val="861F2D"/>
          </a:solidFill>
          <a:ln w="12700">
            <a:solidFill>
              <a:srgbClr val="86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6700" y="2159000"/>
            <a:ext cx="21082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61F2D"/>
                </a:solidFill>
                <a:latin typeface="Microsoft YaHei"/>
                <a:ea typeface="Microsoft YaHei"/>
              </a:rPr>
              <a:t>2023–2024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6700" y="3149600"/>
            <a:ext cx="20955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282C"/>
                </a:solidFill>
                <a:latin typeface="Microsoft YaHei"/>
                <a:ea typeface="Microsoft YaHei"/>
              </a:rPr>
              <a:t>提高草稿覆盖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6700" y="4000500"/>
            <a:ext cx="20955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66B73"/>
                </a:solidFill>
                <a:latin typeface="Microsoft YaHei"/>
                <a:ea typeface="Microsoft YaHei"/>
              </a:rPr>
              <a:t>DistillSpec / EAGLE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6700" y="4214812"/>
            <a:ext cx="20955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66B73"/>
                </a:solidFill>
                <a:latin typeface="Microsoft YaHei"/>
                <a:ea typeface="Microsoft YaHei"/>
              </a:rPr>
              <a:t>SpecInfer / Medusa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6700" y="4953000"/>
            <a:ext cx="21336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更准的 proposal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6700" y="5175885"/>
            <a:ext cx="21336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与多候选验证</a:t>
            </a:r>
          </a:p>
        </p:txBody>
      </p:sp>
      <p:sp>
        <p:nvSpPr>
          <p:cNvPr id="21" name="Oval 20"/>
          <p:cNvSpPr/>
          <p:nvPr/>
        </p:nvSpPr>
        <p:spPr>
          <a:xfrm>
            <a:off x="5168900" y="2755900"/>
            <a:ext cx="101600" cy="101600"/>
          </a:xfrm>
          <a:prstGeom prst="ellipse">
            <a:avLst/>
          </a:prstGeom>
          <a:solidFill>
            <a:srgbClr val="861F2D"/>
          </a:solidFill>
          <a:ln w="12700">
            <a:solidFill>
              <a:srgbClr val="86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67300" y="2159000"/>
            <a:ext cx="21082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61F2D"/>
                </a:solidFill>
                <a:latin typeface="Microsoft YaHei"/>
                <a:ea typeface="Microsoft YaHei"/>
              </a:rPr>
              <a:t>2024–2025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7300" y="3149600"/>
            <a:ext cx="20955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282C"/>
                </a:solidFill>
                <a:latin typeface="Microsoft YaHei"/>
                <a:ea typeface="Microsoft YaHei"/>
              </a:rPr>
              <a:t>缓解训练与状态成本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7300" y="4000500"/>
            <a:ext cx="20955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66B73"/>
                </a:solidFill>
                <a:latin typeface="Microsoft YaHei"/>
                <a:ea typeface="Microsoft YaHei"/>
              </a:rPr>
              <a:t>EAGLE-3 / MagicDec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7300" y="4214812"/>
            <a:ext cx="20955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66B73"/>
                </a:solidFill>
                <a:latin typeface="Microsoft YaHei"/>
                <a:ea typeface="Microsoft YaHei"/>
              </a:rPr>
              <a:t>Block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7300" y="4953000"/>
            <a:ext cx="21336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训练推理对齐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67300" y="5175885"/>
            <a:ext cx="21336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树、KV 与验证</a:t>
            </a:r>
          </a:p>
        </p:txBody>
      </p:sp>
      <p:sp>
        <p:nvSpPr>
          <p:cNvPr id="28" name="Oval 27"/>
          <p:cNvSpPr/>
          <p:nvPr/>
        </p:nvSpPr>
        <p:spPr>
          <a:xfrm>
            <a:off x="7429500" y="2755900"/>
            <a:ext cx="101600" cy="101600"/>
          </a:xfrm>
          <a:prstGeom prst="ellipse">
            <a:avLst/>
          </a:prstGeom>
          <a:solidFill>
            <a:srgbClr val="861F2D"/>
          </a:solidFill>
          <a:ln w="12700">
            <a:solidFill>
              <a:srgbClr val="86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7900" y="2159000"/>
            <a:ext cx="21082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61F2D"/>
                </a:solidFill>
                <a:latin typeface="Microsoft YaHei"/>
                <a:ea typeface="Microsoft YaHei"/>
              </a:rPr>
              <a:t>2026 上半年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7900" y="3149600"/>
            <a:ext cx="20955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282C"/>
                </a:solidFill>
                <a:latin typeface="Microsoft YaHei"/>
                <a:ea typeface="Microsoft YaHei"/>
              </a:rPr>
              <a:t>缩短重计算路径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7900" y="4000500"/>
            <a:ext cx="20955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66B73"/>
                </a:solidFill>
                <a:latin typeface="Microsoft YaHei"/>
                <a:ea typeface="Microsoft YaHei"/>
              </a:rPr>
              <a:t>DFlash / PARD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27900" y="4214812"/>
            <a:ext cx="20955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66B73"/>
                </a:solidFill>
                <a:latin typeface="Microsoft YaHei"/>
                <a:ea typeface="Microsoft YaHei"/>
              </a:rPr>
              <a:t>SPEED-Bench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27900" y="4953000"/>
            <a:ext cx="21336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并行起草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27900" y="5175885"/>
            <a:ext cx="21336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生产级统一评测</a:t>
            </a:r>
          </a:p>
        </p:txBody>
      </p:sp>
      <p:sp>
        <p:nvSpPr>
          <p:cNvPr id="35" name="Oval 34"/>
          <p:cNvSpPr/>
          <p:nvPr/>
        </p:nvSpPr>
        <p:spPr>
          <a:xfrm>
            <a:off x="9690100" y="2755900"/>
            <a:ext cx="101600" cy="101600"/>
          </a:xfrm>
          <a:prstGeom prst="ellipse">
            <a:avLst/>
          </a:prstGeom>
          <a:solidFill>
            <a:srgbClr val="861F2D"/>
          </a:solidFill>
          <a:ln w="12700">
            <a:solidFill>
              <a:srgbClr val="86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88500" y="2159000"/>
            <a:ext cx="21082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61F2D"/>
                </a:solidFill>
                <a:latin typeface="Microsoft YaHei"/>
                <a:ea typeface="Microsoft YaHei"/>
              </a:rPr>
              <a:t>2026 年中至 8 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88500" y="3149600"/>
            <a:ext cx="20955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282C"/>
                </a:solidFill>
                <a:latin typeface="Microsoft YaHei"/>
                <a:ea typeface="Microsoft YaHei"/>
              </a:rPr>
              <a:t>恢复依赖并分配资源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8500" y="4000500"/>
            <a:ext cx="20955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66B73"/>
                </a:solidFill>
                <a:latin typeface="Microsoft YaHei"/>
                <a:ea typeface="Microsoft YaHei"/>
              </a:rPr>
              <a:t>DSpark / ResiSpec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8500" y="4214812"/>
            <a:ext cx="20955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66B73"/>
                </a:solidFill>
                <a:latin typeface="Microsoft YaHei"/>
                <a:ea typeface="Microsoft YaHei"/>
              </a:rPr>
              <a:t>TreeWY / AgentSpec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88500" y="4953000"/>
            <a:ext cx="21336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联合概率、动态预算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88500" y="5175885"/>
            <a:ext cx="21336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与模型状态管理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3400" y="5778500"/>
            <a:ext cx="11125200" cy="469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3400" y="5778500"/>
            <a:ext cx="38100" cy="4699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8500" y="5880100"/>
            <a:ext cx="107823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5282C"/>
                </a:solidFill>
                <a:latin typeface="Microsoft YaHei"/>
                <a:ea typeface="Microsoft YaHei"/>
              </a:rPr>
              <a:t>本报告判断：前沿正在聚焦候选的联合结构、严格验证与运行时资源之间的接口。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3600" y="6515100"/>
            <a:ext cx="852169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2"/>
              </a:rPr>
              <a:t>[TAX] 方法谱系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90370" y="6515100"/>
            <a:ext cx="1350518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3"/>
              </a:rPr>
              <a:t>[INC] 2026-08-26 增量核验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04  代表方法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EAGLE-3：让目标特征直接服务于 token 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20800"/>
            <a:ext cx="111379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关键变化：取消 feature 回归约束，融合多层特征，并在训练中模拟草稿 rollout。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2184400"/>
            <a:ext cx="1587500" cy="508000"/>
          </a:xfrm>
          <a:prstGeom prst="rect">
            <a:avLst/>
          </a:prstGeom>
          <a:solidFill>
            <a:srgbClr val="F3F4F5"/>
          </a:solidFill>
          <a:ln w="1270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300" y="2298700"/>
            <a:ext cx="14224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5282C"/>
                </a:solidFill>
                <a:latin typeface="Microsoft YaHei"/>
                <a:ea typeface="Microsoft YaHei"/>
              </a:rPr>
              <a:t>浅层特征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2933700"/>
            <a:ext cx="1587500" cy="508000"/>
          </a:xfrm>
          <a:prstGeom prst="rect">
            <a:avLst/>
          </a:prstGeom>
          <a:solidFill>
            <a:srgbClr val="F3F4F5"/>
          </a:solidFill>
          <a:ln w="1270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300" y="3048000"/>
            <a:ext cx="14224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5282C"/>
                </a:solidFill>
                <a:latin typeface="Microsoft YaHei"/>
                <a:ea typeface="Microsoft YaHei"/>
              </a:rPr>
              <a:t>中层特征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3683000"/>
            <a:ext cx="1587500" cy="508000"/>
          </a:xfrm>
          <a:prstGeom prst="rect">
            <a:avLst/>
          </a:prstGeom>
          <a:solidFill>
            <a:srgbClr val="F3F4F5"/>
          </a:solidFill>
          <a:ln w="1270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300" y="3797300"/>
            <a:ext cx="14224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5282C"/>
                </a:solidFill>
                <a:latin typeface="Microsoft YaHei"/>
                <a:ea typeface="Microsoft YaHei"/>
              </a:rPr>
              <a:t>高层特征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4000" y="2755900"/>
            <a:ext cx="21082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4500" y="2933700"/>
            <a:ext cx="18415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282C"/>
                </a:solidFill>
                <a:latin typeface="Microsoft YaHei"/>
                <a:ea typeface="Microsoft YaHei"/>
              </a:rPr>
              <a:t>拼接与投影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4500" y="3208020"/>
            <a:ext cx="18415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282C"/>
                </a:solidFill>
                <a:latin typeface="Microsoft YaHei"/>
                <a:ea typeface="Microsoft YaHei"/>
              </a:rPr>
              <a:t>多层 feature 融合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59000" y="2438400"/>
            <a:ext cx="609600" cy="825500"/>
          </a:xfrm>
          <a:prstGeom prst="line">
            <a:avLst/>
          </a:prstGeom>
          <a:ln w="11430">
            <a:solidFill>
              <a:srgbClr val="66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59000" y="3187700"/>
            <a:ext cx="609600" cy="76200"/>
          </a:xfrm>
          <a:prstGeom prst="line">
            <a:avLst/>
          </a:prstGeom>
          <a:ln w="11430">
            <a:solidFill>
              <a:srgbClr val="66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159000" y="3263900"/>
            <a:ext cx="609600" cy="673100"/>
          </a:xfrm>
          <a:prstGeom prst="line">
            <a:avLst/>
          </a:prstGeom>
          <a:ln w="11430">
            <a:solidFill>
              <a:srgbClr val="66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02200" y="3263900"/>
            <a:ext cx="660400" cy="0"/>
          </a:xfrm>
          <a:prstGeom prst="line">
            <a:avLst/>
          </a:prstGeom>
          <a:ln w="12700">
            <a:solidFill>
              <a:srgbClr val="66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588000" y="2755900"/>
            <a:ext cx="2235200" cy="1066800"/>
          </a:xfrm>
          <a:prstGeom prst="rect">
            <a:avLst/>
          </a:prstGeom>
          <a:solidFill>
            <a:srgbClr val="F8F5F5"/>
          </a:solidFill>
          <a:ln w="1270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1200" y="2933700"/>
            <a:ext cx="18669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61F2D"/>
                </a:solidFill>
                <a:latin typeface="Microsoft YaHei"/>
                <a:ea typeface="Microsoft YaHei"/>
              </a:rPr>
              <a:t>轻量 AR drafter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1200" y="3208020"/>
            <a:ext cx="18669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61F2D"/>
                </a:solidFill>
                <a:latin typeface="Microsoft YaHei"/>
                <a:ea typeface="Microsoft YaHei"/>
              </a:rPr>
              <a:t>直接预测 token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23200" y="3263900"/>
            <a:ext cx="596900" cy="0"/>
          </a:xfrm>
          <a:prstGeom prst="line">
            <a:avLst/>
          </a:prstGeom>
          <a:ln w="12700">
            <a:solidFill>
              <a:srgbClr val="66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445500" y="2755900"/>
            <a:ext cx="3187700" cy="1066800"/>
          </a:xfrm>
          <a:prstGeom prst="rect">
            <a:avLst/>
          </a:prstGeom>
          <a:solidFill>
            <a:srgbClr val="F3F4F5"/>
          </a:solidFill>
          <a:ln w="1270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36000" y="2933700"/>
            <a:ext cx="28194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282C"/>
                </a:solidFill>
                <a:latin typeface="Microsoft YaHei"/>
                <a:ea typeface="Microsoft YaHei"/>
              </a:rPr>
              <a:t>动态树 / 链候选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6000" y="3208020"/>
            <a:ext cx="28194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282C"/>
                </a:solidFill>
                <a:latin typeface="Microsoft YaHei"/>
                <a:ea typeface="Microsoft YaHei"/>
              </a:rPr>
              <a:t>target 严格验证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4521200"/>
            <a:ext cx="51943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61F2D"/>
                </a:solidFill>
                <a:latin typeface="Microsoft YaHei"/>
                <a:ea typeface="Microsoft YaHei"/>
              </a:rPr>
              <a:t>为什么有效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4991100"/>
            <a:ext cx="51943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移除 feature 拟合束缚；训练时暴露自己的预测轨迹，使数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5256847"/>
            <a:ext cx="51943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据扩展更能转化为接受收益。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7600" y="4521200"/>
            <a:ext cx="53848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61F2D"/>
                </a:solidFill>
                <a:latin typeface="Microsoft YaHei"/>
                <a:ea typeface="Microsoft YaHei"/>
              </a:rPr>
              <a:t>代价与边界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7600" y="4991100"/>
            <a:ext cx="53848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仍需 target 专用训练与特征访问；草稿沿深度递推，长链的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7600" y="5256847"/>
            <a:ext cx="53848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串行延迟没有消失。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3400" y="5778500"/>
            <a:ext cx="11125200" cy="469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3400" y="5778500"/>
            <a:ext cx="38100" cy="4699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8500" y="5880100"/>
            <a:ext cx="107823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5282C"/>
                </a:solidFill>
                <a:latin typeface="Microsoft YaHei"/>
                <a:ea typeface="Microsoft YaHei"/>
              </a:rPr>
              <a:t>研究启示：训练目标应对齐最终接受与推理状态，而非只拟合 target 的内部表示。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3600" y="6515100"/>
            <a:ext cx="1425956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2"/>
              </a:rPr>
              <a:t>[E3] EAGLE-3, NeurIPS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04  代表方法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DFlash：并行生成很便宜，连贯的长前缀仍然昂贵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20800"/>
            <a:ext cx="111379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通过 target context features 条件化轻量 block-diffusion drafter，一次前向预测多个位置。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2108200"/>
            <a:ext cx="11049000" cy="7874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4700" y="2311400"/>
            <a:ext cx="10680700" cy="35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282C"/>
                </a:solidFill>
                <a:latin typeface="Microsoft YaHei"/>
                <a:ea typeface="Microsoft YaHei"/>
              </a:rPr>
              <a:t>target 特征 + [anchor, mask, mask, …] → 并行主干 → 多位置 logits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3251200"/>
            <a:ext cx="53848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61F2D"/>
                </a:solidFill>
                <a:latin typeface="Microsoft YaHei"/>
                <a:ea typeface="Microsoft YaHei"/>
              </a:rPr>
              <a:t>优势：重计算路径不随 K 逐步重复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3797300"/>
            <a:ext cx="53467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5282C"/>
                </a:solidFill>
                <a:latin typeface="Microsoft YaHei"/>
                <a:ea typeface="Microsoft YaHei"/>
              </a:rPr>
              <a:t>可将计算预算投入更深的 drafter；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4071620"/>
            <a:ext cx="53467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5282C"/>
                </a:solidFill>
                <a:latin typeface="Microsoft YaHei"/>
                <a:ea typeface="Microsoft YaHei"/>
              </a:rPr>
              <a:t>但需要专用训练、feature / KV 缓存。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4345940"/>
            <a:ext cx="53467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5282C"/>
                </a:solidFill>
                <a:latin typeface="Microsoft YaHei"/>
                <a:ea typeface="Microsoft YaHei"/>
              </a:rPr>
              <a:t>固定长块在低接受请求中可能浪费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4620260"/>
            <a:ext cx="53467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5282C"/>
                </a:solidFill>
                <a:latin typeface="Microsoft YaHei"/>
                <a:ea typeface="Microsoft YaHei"/>
              </a:rPr>
              <a:t>验证容量，需观察每位置存活率。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51200"/>
            <a:ext cx="52070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61F2D"/>
                </a:solidFill>
                <a:latin typeface="Microsoft YaHei"/>
                <a:ea typeface="Microsoft YaHei"/>
              </a:rPr>
              <a:t>限制：单个位置合理，组合可能冲突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13500" y="3835400"/>
            <a:ext cx="18796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900" y="3937000"/>
            <a:ext cx="12065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5282C"/>
                </a:solidFill>
                <a:latin typeface="Microsoft YaHei"/>
                <a:ea typeface="Microsoft YaHei"/>
              </a:rPr>
              <a:t>巴黎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47200" y="3835400"/>
            <a:ext cx="18796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80600" y="3937000"/>
            <a:ext cx="12065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5282C"/>
                </a:solidFill>
                <a:latin typeface="Microsoft YaHei"/>
                <a:ea typeface="Microsoft YaHei"/>
              </a:rPr>
              <a:t>法国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13500" y="4559300"/>
            <a:ext cx="18796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6900" y="4660900"/>
            <a:ext cx="12065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5282C"/>
                </a:solidFill>
                <a:latin typeface="Microsoft YaHei"/>
                <a:ea typeface="Microsoft YaHei"/>
              </a:rPr>
              <a:t>东京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47200" y="4559300"/>
            <a:ext cx="18796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80600" y="4660900"/>
            <a:ext cx="12065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5282C"/>
                </a:solidFill>
                <a:latin typeface="Microsoft YaHei"/>
                <a:ea typeface="Microsoft YaHei"/>
              </a:rPr>
              <a:t>日本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05800" y="4089400"/>
            <a:ext cx="1016000" cy="0"/>
          </a:xfrm>
          <a:prstGeom prst="line">
            <a:avLst/>
          </a:prstGeom>
          <a:ln w="12700">
            <a:solidFill>
              <a:srgbClr val="66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05800" y="4813300"/>
            <a:ext cx="1016000" cy="0"/>
          </a:xfrm>
          <a:prstGeom prst="line">
            <a:avLst/>
          </a:prstGeom>
          <a:ln w="12700">
            <a:solidFill>
              <a:srgbClr val="66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05800" y="4089400"/>
            <a:ext cx="1016000" cy="723900"/>
          </a:xfrm>
          <a:prstGeom prst="line">
            <a:avLst/>
          </a:prstGeom>
          <a:ln w="19050">
            <a:solidFill>
              <a:srgbClr val="861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382000" y="4279900"/>
            <a:ext cx="9779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61F2D"/>
                </a:solidFill>
                <a:latin typeface="Microsoft YaHei"/>
                <a:ea typeface="Microsoft YaHei"/>
              </a:rPr>
              <a:t>不相容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6200" y="5245100"/>
            <a:ext cx="5130800" cy="2139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B73"/>
                </a:solidFill>
                <a:latin typeface="Microsoft YaHei"/>
                <a:ea typeface="Microsoft YaHei"/>
              </a:rPr>
              <a:t>概念示例：边缘预测不等于高质量联合前缀。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3400" y="5778500"/>
            <a:ext cx="11125200" cy="469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3400" y="5778500"/>
            <a:ext cx="38100" cy="4699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500" y="5880100"/>
            <a:ext cx="107823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5282C"/>
                </a:solidFill>
                <a:latin typeface="Microsoft YaHei"/>
                <a:ea typeface="Microsoft YaHei"/>
              </a:rPr>
              <a:t>并行 proposal 可以严格校正；下一步竞争在于用低成本建模候选间的条件依赖。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600" y="6515100"/>
            <a:ext cx="1219263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2"/>
              </a:rPr>
              <a:t>[DF] DFlash, ICML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63" y="6515100"/>
            <a:ext cx="852169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3"/>
              </a:rPr>
              <a:t>[TAX] 方法谱系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4233" y="6515100"/>
            <a:ext cx="1251648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4"/>
              </a:rPr>
              <a:t>[GLO] 术语与正确性边界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04  代表方法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DSpark：轻量因果修正提升前缀，调度兑现系统收益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20800"/>
            <a:ext cx="111379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左图取自同一论文的受控离线实验；接受长度 τ 含 bonus，不能直接解释为墙钟加速比。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71500" y="2082800"/>
            <a:ext cx="63119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66B73"/>
                </a:solidFill>
                <a:latin typeface="Microsoft YaHei"/>
                <a:ea typeface="Microsoft YaHei"/>
              </a:rPr>
              <a:t>Qwen3-8B：每轮推进 token 数 τ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552700"/>
            <a:ext cx="152400" cy="152400"/>
          </a:xfrm>
          <a:prstGeom prst="rect">
            <a:avLst/>
          </a:prstGeom>
          <a:solidFill>
            <a:srgbClr val="9E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501900"/>
            <a:ext cx="17018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B73"/>
                </a:solidFill>
                <a:latin typeface="Microsoft YaHei"/>
                <a:ea typeface="Microsoft YaHei"/>
              </a:rPr>
              <a:t>EAGLE-3</a:t>
            </a:r>
          </a:p>
        </p:txBody>
      </p:sp>
      <p:sp>
        <p:nvSpPr>
          <p:cNvPr id="9" name="Rectangle 8"/>
          <p:cNvSpPr/>
          <p:nvPr/>
        </p:nvSpPr>
        <p:spPr>
          <a:xfrm>
            <a:off x="2641600" y="2552700"/>
            <a:ext cx="152400" cy="152400"/>
          </a:xfrm>
          <a:prstGeom prst="rect">
            <a:avLst/>
          </a:prstGeom>
          <a:solidFill>
            <a:srgbClr val="66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0200" y="2501900"/>
            <a:ext cx="17018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B73"/>
                </a:solidFill>
                <a:latin typeface="Microsoft YaHei"/>
                <a:ea typeface="Microsoft YaHei"/>
              </a:rPr>
              <a:t>DFlash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73600" y="2552700"/>
            <a:ext cx="152400" cy="1524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2200" y="2501900"/>
            <a:ext cx="17018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B73"/>
                </a:solidFill>
                <a:latin typeface="Microsoft YaHei"/>
                <a:ea typeface="Microsoft YaHei"/>
              </a:rPr>
              <a:t>DSpark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225800"/>
            <a:ext cx="13716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B73"/>
                </a:solidFill>
                <a:latin typeface="Microsoft YaHei"/>
                <a:ea typeface="Microsoft YaHei"/>
              </a:rPr>
              <a:t>GSM8K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200" y="3035300"/>
            <a:ext cx="3077028" cy="139700"/>
          </a:xfrm>
          <a:prstGeom prst="rect">
            <a:avLst/>
          </a:prstGeom>
          <a:solidFill>
            <a:srgbClr val="9E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9828" y="2997200"/>
            <a:ext cx="635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EA3AA"/>
                </a:solidFill>
                <a:latin typeface="Microsoft YaHei"/>
                <a:ea typeface="Microsoft YaHei"/>
              </a:rPr>
              <a:t>5.30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81200" y="3251200"/>
            <a:ext cx="3094445" cy="139700"/>
          </a:xfrm>
          <a:prstGeom prst="rect">
            <a:avLst/>
          </a:prstGeom>
          <a:solidFill>
            <a:srgbClr val="66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7245" y="3213100"/>
            <a:ext cx="635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6B73"/>
                </a:solidFill>
                <a:latin typeface="Microsoft YaHei"/>
                <a:ea typeface="Microsoft YaHei"/>
              </a:rPr>
              <a:t>5.33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81200" y="3467100"/>
            <a:ext cx="3582125" cy="1397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4925" y="3429000"/>
            <a:ext cx="635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61F2D"/>
                </a:solidFill>
                <a:latin typeface="Microsoft YaHei"/>
                <a:ea typeface="Microsoft YaHei"/>
              </a:rPr>
              <a:t>6.17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038600"/>
            <a:ext cx="13716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B73"/>
                </a:solidFill>
                <a:latin typeface="Microsoft YaHei"/>
                <a:ea typeface="Microsoft YaHei"/>
              </a:rPr>
              <a:t>HumanEval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1200" y="3848100"/>
            <a:ext cx="2513874" cy="139700"/>
          </a:xfrm>
          <a:prstGeom prst="rect">
            <a:avLst/>
          </a:prstGeom>
          <a:solidFill>
            <a:srgbClr val="9E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6674" y="3810000"/>
            <a:ext cx="635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EA3AA"/>
                </a:solidFill>
                <a:latin typeface="Microsoft YaHei"/>
                <a:ea typeface="Microsoft YaHei"/>
              </a:rPr>
              <a:t>4.33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1200" y="4064000"/>
            <a:ext cx="2693851" cy="139700"/>
          </a:xfrm>
          <a:prstGeom prst="rect">
            <a:avLst/>
          </a:prstGeom>
          <a:solidFill>
            <a:srgbClr val="66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6651" y="4025900"/>
            <a:ext cx="635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6B73"/>
                </a:solidFill>
                <a:latin typeface="Microsoft YaHei"/>
                <a:ea typeface="Microsoft YaHei"/>
              </a:rPr>
              <a:t>4.64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81200" y="4279900"/>
            <a:ext cx="3204754" cy="1397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87554" y="4241800"/>
            <a:ext cx="635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61F2D"/>
                </a:solidFill>
                <a:latin typeface="Microsoft YaHei"/>
                <a:ea typeface="Microsoft YaHei"/>
              </a:rPr>
              <a:t>5.52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4851400"/>
            <a:ext cx="13716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B73"/>
                </a:solidFill>
                <a:latin typeface="Microsoft YaHei"/>
                <a:ea typeface="Microsoft YaHei"/>
              </a:rPr>
              <a:t>MT-Bench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81200" y="4660900"/>
            <a:ext cx="1544320" cy="139700"/>
          </a:xfrm>
          <a:prstGeom prst="rect">
            <a:avLst/>
          </a:prstGeom>
          <a:solidFill>
            <a:srgbClr val="9E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27120" y="4622800"/>
            <a:ext cx="635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EA3AA"/>
                </a:solidFill>
                <a:latin typeface="Microsoft YaHei"/>
                <a:ea typeface="Microsoft YaHei"/>
              </a:rPr>
              <a:t>2.66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81200" y="4876800"/>
            <a:ext cx="1805577" cy="139700"/>
          </a:xfrm>
          <a:prstGeom prst="rect">
            <a:avLst/>
          </a:prstGeom>
          <a:solidFill>
            <a:srgbClr val="66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88377" y="4838700"/>
            <a:ext cx="635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6B73"/>
                </a:solidFill>
                <a:latin typeface="Microsoft YaHei"/>
                <a:ea typeface="Microsoft YaHei"/>
              </a:rPr>
              <a:t>3.11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1200" y="5092700"/>
            <a:ext cx="2159725" cy="1397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2525" y="5054600"/>
            <a:ext cx="635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61F2D"/>
                </a:solidFill>
                <a:latin typeface="Microsoft YaHei"/>
                <a:ea typeface="Microsoft YaHei"/>
              </a:rPr>
              <a:t>3.72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150100" y="2070100"/>
            <a:ext cx="0" cy="351790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493000" y="2159000"/>
            <a:ext cx="40894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61F2D"/>
                </a:solidFill>
                <a:latin typeface="Microsoft YaHei"/>
                <a:ea typeface="Microsoft YaHei"/>
              </a:rPr>
              <a:t>并行主干 + 轻量条件头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3000" y="2603500"/>
            <a:ext cx="40894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5282C"/>
                </a:solidFill>
                <a:latin typeface="Microsoft YaHei"/>
                <a:ea typeface="Microsoft YaHei"/>
              </a:rPr>
              <a:t>一次计算位置表征，再以 Markov / RNN 头按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3000" y="2877820"/>
            <a:ext cx="40894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5282C"/>
                </a:solidFill>
                <a:latin typeface="Microsoft YaHei"/>
                <a:ea typeface="Microsoft YaHei"/>
              </a:rPr>
              <a:t>候选前缀修正 logits。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3000" y="3975100"/>
            <a:ext cx="40894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61F2D"/>
                </a:solidFill>
                <a:latin typeface="Microsoft YaHei"/>
                <a:ea typeface="Microsoft YaHei"/>
              </a:rPr>
              <a:t>置信调度 + 实测成本曲线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3000" y="4419600"/>
            <a:ext cx="40894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5282C"/>
                </a:solidFill>
                <a:latin typeface="Microsoft YaHei"/>
                <a:ea typeface="Microsoft YaHei"/>
              </a:rPr>
              <a:t>估计 prefix survival，按 engine 的吞吐曲线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3000" y="4693920"/>
            <a:ext cx="40894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5282C"/>
                </a:solidFill>
                <a:latin typeface="Microsoft YaHei"/>
                <a:ea typeface="Microsoft YaHei"/>
              </a:rPr>
              <a:t>分配每请求验证长度。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5778500"/>
            <a:ext cx="11125200" cy="469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3400" y="5778500"/>
            <a:ext cx="38100" cy="4699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8500" y="5880100"/>
            <a:ext cx="107823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5282C"/>
                </a:solidFill>
                <a:latin typeface="Microsoft YaHei"/>
                <a:ea typeface="Microsoft YaHei"/>
              </a:rPr>
              <a:t>同一训练与评测框架下，DSpark 提高了 τ；端到端收益还需要加入在线调度与实测成本。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3600" y="6515100"/>
            <a:ext cx="1420526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2"/>
              </a:rPr>
              <a:t>[DS] DSpark, 2026, preprint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04  代表方法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树与块验证：增加候选覆盖，也增加概率与状态账本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20800"/>
            <a:ext cx="111379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树节点只读取自身祖先；多个候选如何接受、拒绝和更新残差，必须与 proposal 事件一致。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6900" y="2095500"/>
            <a:ext cx="45593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61F2D"/>
                </a:solidFill>
                <a:latin typeface="Microsoft YaHei"/>
                <a:ea typeface="Microsoft YaHei"/>
              </a:rPr>
              <a:t>候选树：共享前缀，一次并行验证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104900" y="3022600"/>
            <a:ext cx="1435100" cy="711200"/>
          </a:xfrm>
          <a:prstGeom prst="line">
            <a:avLst/>
          </a:prstGeom>
          <a:ln w="17780">
            <a:solidFill>
              <a:srgbClr val="861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4900" y="3733800"/>
            <a:ext cx="1435100" cy="762000"/>
          </a:xfrm>
          <a:prstGeom prst="line">
            <a:avLst/>
          </a:prstGeom>
          <a:ln w="17780">
            <a:solidFill>
              <a:srgbClr val="9EA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540000" y="2451100"/>
            <a:ext cx="1714500" cy="571500"/>
          </a:xfrm>
          <a:prstGeom prst="line">
            <a:avLst/>
          </a:prstGeom>
          <a:ln w="17780">
            <a:solidFill>
              <a:srgbClr val="861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40000" y="3022600"/>
            <a:ext cx="1714500" cy="495300"/>
          </a:xfrm>
          <a:prstGeom prst="line">
            <a:avLst/>
          </a:prstGeom>
          <a:ln w="17780">
            <a:solidFill>
              <a:srgbClr val="9EA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540000" y="4495800"/>
            <a:ext cx="1714500" cy="0"/>
          </a:xfrm>
          <a:prstGeom prst="line">
            <a:avLst/>
          </a:prstGeom>
          <a:ln w="17780">
            <a:solidFill>
              <a:srgbClr val="9EA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254500" y="2451100"/>
            <a:ext cx="1460500" cy="0"/>
          </a:xfrm>
          <a:prstGeom prst="line">
            <a:avLst/>
          </a:prstGeom>
          <a:ln w="17780">
            <a:solidFill>
              <a:srgbClr val="861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12800" y="3441700"/>
            <a:ext cx="584200" cy="584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6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3594100"/>
            <a:ext cx="6350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61F2D"/>
                </a:solidFill>
                <a:latin typeface="Microsoft YaHei"/>
                <a:ea typeface="Microsoft YaHei"/>
              </a:rPr>
              <a:t>根</a:t>
            </a:r>
          </a:p>
        </p:txBody>
      </p:sp>
      <p:sp>
        <p:nvSpPr>
          <p:cNvPr id="15" name="Oval 14"/>
          <p:cNvSpPr/>
          <p:nvPr/>
        </p:nvSpPr>
        <p:spPr>
          <a:xfrm>
            <a:off x="2247900" y="2730500"/>
            <a:ext cx="584200" cy="584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6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7900" y="2882900"/>
            <a:ext cx="6350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61F2D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17" name="Oval 16"/>
          <p:cNvSpPr/>
          <p:nvPr/>
        </p:nvSpPr>
        <p:spPr>
          <a:xfrm>
            <a:off x="2247900" y="4203700"/>
            <a:ext cx="584200" cy="584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EA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7900" y="4356100"/>
            <a:ext cx="6350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66B73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19" name="Oval 18"/>
          <p:cNvSpPr/>
          <p:nvPr/>
        </p:nvSpPr>
        <p:spPr>
          <a:xfrm>
            <a:off x="3962400" y="2159000"/>
            <a:ext cx="584200" cy="584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6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2400" y="2311400"/>
            <a:ext cx="6350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61F2D"/>
                </a:solidFill>
                <a:latin typeface="Microsoft YaHei"/>
                <a:ea typeface="Microsoft YaHei"/>
              </a:rPr>
              <a:t>A1</a:t>
            </a:r>
          </a:p>
        </p:txBody>
      </p:sp>
      <p:sp>
        <p:nvSpPr>
          <p:cNvPr id="21" name="Oval 20"/>
          <p:cNvSpPr/>
          <p:nvPr/>
        </p:nvSpPr>
        <p:spPr>
          <a:xfrm>
            <a:off x="3962400" y="3225800"/>
            <a:ext cx="584200" cy="584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EA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62400" y="3378200"/>
            <a:ext cx="6350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66B73"/>
                </a:solidFill>
                <a:latin typeface="Microsoft YaHei"/>
                <a:ea typeface="Microsoft YaHei"/>
              </a:rPr>
              <a:t>A2</a:t>
            </a:r>
          </a:p>
        </p:txBody>
      </p:sp>
      <p:sp>
        <p:nvSpPr>
          <p:cNvPr id="23" name="Oval 22"/>
          <p:cNvSpPr/>
          <p:nvPr/>
        </p:nvSpPr>
        <p:spPr>
          <a:xfrm>
            <a:off x="3962400" y="4203700"/>
            <a:ext cx="584200" cy="584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EA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62400" y="4356100"/>
            <a:ext cx="6350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66B73"/>
                </a:solidFill>
                <a:latin typeface="Microsoft YaHei"/>
                <a:ea typeface="Microsoft YaHei"/>
              </a:rPr>
              <a:t>B1</a:t>
            </a:r>
          </a:p>
        </p:txBody>
      </p:sp>
      <p:sp>
        <p:nvSpPr>
          <p:cNvPr id="25" name="Oval 24"/>
          <p:cNvSpPr/>
          <p:nvPr/>
        </p:nvSpPr>
        <p:spPr>
          <a:xfrm>
            <a:off x="5422900" y="2159000"/>
            <a:ext cx="584200" cy="584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6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22900" y="2311400"/>
            <a:ext cx="6350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61F2D"/>
                </a:solidFill>
                <a:latin typeface="Microsoft YaHei"/>
                <a:ea typeface="Microsoft YaHei"/>
              </a:rPr>
              <a:t>A11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900" y="5105400"/>
            <a:ext cx="55499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B73"/>
                </a:solidFill>
                <a:latin typeface="Microsoft YaHei"/>
                <a:ea typeface="Microsoft YaHei"/>
              </a:rPr>
              <a:t>红色为示例提交路径；其他分支的状态需丢弃。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7200" y="2108200"/>
            <a:ext cx="47244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61F2D"/>
                </a:solidFill>
                <a:latin typeface="Microsoft YaHei"/>
                <a:ea typeface="Microsoft YaHei"/>
              </a:rPr>
              <a:t>覆盖收益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7200" y="2514600"/>
            <a:ext cx="48133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增加分支能够覆盖更多 target 可能性；节点数不是实际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7200" y="2780347"/>
            <a:ext cx="48133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提交量。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7200" y="3327400"/>
            <a:ext cx="47244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61F2D"/>
                </a:solidFill>
                <a:latin typeface="Microsoft YaHei"/>
                <a:ea typeface="Microsoft YaHei"/>
              </a:rPr>
              <a:t>验证改进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7200" y="3733800"/>
            <a:ext cx="48133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Block Verification 优化链式块的接受；ResiSpec 关注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7200" y="3999547"/>
            <a:ext cx="48133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多候选残差漂移。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7200" y="4533900"/>
            <a:ext cx="47244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61F2D"/>
                </a:solidFill>
                <a:latin typeface="Microsoft YaHei"/>
                <a:ea typeface="Microsoft YaHei"/>
              </a:rPr>
              <a:t>实现边界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7200" y="4940300"/>
            <a:ext cx="48133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错误 mask、position 或拒绝分支 KV 会改变条件分布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07200" y="5206047"/>
            <a:ext cx="48133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；更大树也可能降低吞吐。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3400" y="5778500"/>
            <a:ext cx="11125200" cy="469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3400" y="5778500"/>
            <a:ext cx="38100" cy="4699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8500" y="5880100"/>
            <a:ext cx="107823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5282C"/>
                </a:solidFill>
                <a:latin typeface="Microsoft YaHei"/>
                <a:ea typeface="Microsoft YaHei"/>
              </a:rPr>
              <a:t>好的树不是节点最多，而是在正确概率账本下，以有限验证成本覆盖更有价值的前缀。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3600" y="6515100"/>
            <a:ext cx="144491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2"/>
              </a:rPr>
              <a:t>[SI] SpecInfer, ASPLOS 2024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3110" y="6515100"/>
            <a:ext cx="1678273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3"/>
              </a:rPr>
              <a:t>[BV] Block Verification, ICLR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5983" y="6515100"/>
            <a:ext cx="1492154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4"/>
              </a:rPr>
              <a:t>[RS] ResiSpec, 2026, preprint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05  系统与评测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长上下文：瓶颈从权重读取转向 KV 与状态访问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20800"/>
            <a:ext cx="111379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“投机解码只适合小 batch”存在条件边界；长上下文可能重新进入带宽受限区间。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58800" y="2095500"/>
            <a:ext cx="5397500" cy="12192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300" y="2260600"/>
            <a:ext cx="50165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61F2D"/>
                </a:solidFill>
                <a:latin typeface="Microsoft YaHei"/>
                <a:ea typeface="Microsoft YaHei"/>
              </a:rPr>
              <a:t>短上下文 / 低并发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300" y="2705100"/>
            <a:ext cx="5016500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5282C"/>
                </a:solidFill>
                <a:latin typeface="Microsoft YaHei"/>
                <a:ea typeface="Microsoft YaHei"/>
              </a:rPr>
              <a:t>主要候选瓶颈：模型权重带宽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300" y="2936557"/>
            <a:ext cx="5016500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5282C"/>
                </a:solidFill>
                <a:latin typeface="Microsoft YaHei"/>
                <a:ea typeface="Microsoft YaHei"/>
              </a:rPr>
              <a:t>让一次 target 调用提交更多 token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5700" y="2095500"/>
            <a:ext cx="5397500" cy="12192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6200" y="2260600"/>
            <a:ext cx="50165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61F2D"/>
                </a:solidFill>
                <a:latin typeface="Microsoft YaHei"/>
                <a:ea typeface="Microsoft YaHei"/>
              </a:rPr>
              <a:t>长上下文 / 较高并发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6200" y="2705100"/>
            <a:ext cx="5016500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5282C"/>
                </a:solidFill>
                <a:latin typeface="Microsoft YaHei"/>
                <a:ea typeface="Microsoft YaHei"/>
              </a:rPr>
              <a:t>主要候选瓶颈：KV、attention 与状态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6200" y="2936557"/>
            <a:ext cx="5016500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5282C"/>
                </a:solidFill>
                <a:latin typeface="Microsoft YaHei"/>
                <a:ea typeface="Microsoft YaHei"/>
              </a:rPr>
              <a:t>让起草读取更少，同时保持 target 语义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8800" y="3594100"/>
            <a:ext cx="11112500" cy="4064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100" y="3683000"/>
            <a:ext cx="19177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路线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4000" y="3683000"/>
            <a:ext cx="37465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减少什么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3700" y="3683000"/>
            <a:ext cx="48387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保留什么 / 检查什么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100" y="4114800"/>
            <a:ext cx="19177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61F2D"/>
                </a:solidFill>
                <a:latin typeface="Microsoft YaHei"/>
                <a:ea typeface="Microsoft YaHei"/>
              </a:rPr>
              <a:t>MagicDec / TriForce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4000" y="4114800"/>
            <a:ext cx="37465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5282C"/>
                </a:solidFill>
                <a:latin typeface="Microsoft YaHei"/>
                <a:ea typeface="Microsoft YaHei"/>
              </a:rPr>
              <a:t>稀疏或检索的 draft KV 读取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3700" y="4114800"/>
            <a:ext cx="48387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5282C"/>
                </a:solidFill>
                <a:latin typeface="Microsoft YaHei"/>
                <a:ea typeface="Microsoft YaHei"/>
              </a:rPr>
              <a:t>保留完整 target 验证；选择与 gather 成本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8800" y="4546600"/>
            <a:ext cx="111125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58800" y="4546600"/>
            <a:ext cx="11112500" cy="5461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100" y="4660900"/>
            <a:ext cx="19177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61F2D"/>
                </a:solidFill>
                <a:latin typeface="Microsoft YaHei"/>
                <a:ea typeface="Microsoft YaHei"/>
              </a:rPr>
              <a:t>Windowed-MTP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4000" y="4660900"/>
            <a:ext cx="37465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5282C"/>
                </a:solidFill>
                <a:latin typeface="Microsoft YaHei"/>
                <a:ea typeface="Microsoft YaHei"/>
              </a:rPr>
              <a:t>native MTP 的全上下文读取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3700" y="4660900"/>
            <a:ext cx="48387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5282C"/>
                </a:solidFill>
                <a:latin typeface="Microsoft YaHei"/>
                <a:ea typeface="Microsoft YaHei"/>
              </a:rPr>
              <a:t>仅改变 draft 窗口；位置映射与远距依赖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58800" y="5092700"/>
            <a:ext cx="111125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3100" y="5207000"/>
            <a:ext cx="19177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61F2D"/>
                </a:solidFill>
                <a:latin typeface="Microsoft YaHei"/>
                <a:ea typeface="Microsoft YaHei"/>
              </a:rPr>
              <a:t>混合状态运行时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94000" y="5207000"/>
            <a:ext cx="37465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5282C"/>
                </a:solidFill>
                <a:latin typeface="Microsoft YaHei"/>
                <a:ea typeface="Microsoft YaHei"/>
              </a:rPr>
              <a:t>树节点状态复制与回退开销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3700" y="5207000"/>
            <a:ext cx="48387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5282C"/>
                </a:solidFill>
                <a:latin typeface="Microsoft YaHei"/>
                <a:ea typeface="Microsoft YaHei"/>
              </a:rPr>
              <a:t>attention / recurrent 状态统一生命周期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58800" y="5638800"/>
            <a:ext cx="111125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33400" y="5778500"/>
            <a:ext cx="11125200" cy="469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3400" y="5778500"/>
            <a:ext cx="38100" cy="4699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500" y="5880100"/>
            <a:ext cx="107823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5282C"/>
                </a:solidFill>
                <a:latin typeface="Microsoft YaHei"/>
                <a:ea typeface="Microsoft YaHei"/>
              </a:rPr>
              <a:t>native MTP 和 training-free 都不等于零成本；应记录每轮 bytes-read、KV 占用与实际 TPOT。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3600" y="6515100"/>
            <a:ext cx="1352423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2"/>
              </a:rPr>
              <a:t>[MG] MagicDec, ICLR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0623" y="6515100"/>
            <a:ext cx="183534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3"/>
              </a:rPr>
              <a:t>[WM] Windowed-MTP, 2026, preprint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00563" y="6515100"/>
            <a:ext cx="852169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4"/>
              </a:rPr>
              <a:t>[TAX] 方法谱系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05  系统与评测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Serving：将验证容量分配给更可能存活的前缀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20800"/>
            <a:ext cx="111379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下表为教学示例，数值并非 DSpark 实测；单元格表示“此前缀全部被接受”的概率。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71500" y="2082800"/>
            <a:ext cx="63627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61F2D"/>
                </a:solidFill>
                <a:latin typeface="Microsoft YaHei"/>
                <a:ea typeface="Microsoft YaHei"/>
              </a:rPr>
              <a:t>扩展预算：6 个候选位置（不含基础位置）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900" y="2616200"/>
            <a:ext cx="12446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6B73"/>
                </a:solidFill>
                <a:latin typeface="Microsoft YaHei"/>
                <a:ea typeface="Microsoft YaHei"/>
              </a:rPr>
              <a:t>请求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616200"/>
            <a:ext cx="12446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6B73"/>
                </a:solidFill>
                <a:latin typeface="Microsoft YaHei"/>
                <a:ea typeface="Microsoft YaHei"/>
              </a:rPr>
              <a:t>深度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1500" y="2616200"/>
            <a:ext cx="12446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6B73"/>
                </a:solidFill>
                <a:latin typeface="Microsoft YaHei"/>
                <a:ea typeface="Microsoft YaHei"/>
              </a:rPr>
              <a:t>深度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800" y="2616200"/>
            <a:ext cx="12446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6B73"/>
                </a:solidFill>
                <a:latin typeface="Microsoft YaHei"/>
                <a:ea typeface="Microsoft YaHei"/>
              </a:rPr>
              <a:t>深度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6100" y="2616200"/>
            <a:ext cx="12446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6B73"/>
                </a:solidFill>
                <a:latin typeface="Microsoft YaHei"/>
                <a:ea typeface="Microsoft YaHei"/>
              </a:rPr>
              <a:t>深度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200400"/>
            <a:ext cx="9398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282C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3060700"/>
            <a:ext cx="1079500" cy="495300"/>
          </a:xfrm>
          <a:prstGeom prst="rect">
            <a:avLst/>
          </a:prstGeom>
          <a:solidFill>
            <a:srgbClr val="F8F5F5"/>
          </a:solidFill>
          <a:ln w="10160">
            <a:solidFill>
              <a:srgbClr val="86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70100" y="3187700"/>
            <a:ext cx="787400" cy="2654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61F2D"/>
                </a:solidFill>
                <a:latin typeface="Microsoft YaHei"/>
                <a:ea typeface="Microsoft YaHei"/>
              </a:rPr>
              <a:t>0.90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35300" y="3060700"/>
            <a:ext cx="1079500" cy="495300"/>
          </a:xfrm>
          <a:prstGeom prst="rect">
            <a:avLst/>
          </a:prstGeom>
          <a:solidFill>
            <a:srgbClr val="F8F5F5"/>
          </a:solidFill>
          <a:ln w="10160">
            <a:solidFill>
              <a:srgbClr val="86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7400" y="3187700"/>
            <a:ext cx="787400" cy="2654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61F2D"/>
                </a:solidFill>
                <a:latin typeface="Microsoft YaHei"/>
                <a:ea typeface="Microsoft YaHei"/>
              </a:rPr>
              <a:t>0.81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2600" y="3060700"/>
            <a:ext cx="1079500" cy="495300"/>
          </a:xfrm>
          <a:prstGeom prst="rect">
            <a:avLst/>
          </a:prstGeom>
          <a:solidFill>
            <a:srgbClr val="F8F5F5"/>
          </a:solidFill>
          <a:ln w="10160">
            <a:solidFill>
              <a:srgbClr val="86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4700" y="3187700"/>
            <a:ext cx="787400" cy="2654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61F2D"/>
                </a:solidFill>
                <a:latin typeface="Microsoft YaHei"/>
                <a:ea typeface="Microsoft YaHei"/>
              </a:rPr>
              <a:t>0.73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49900" y="3060700"/>
            <a:ext cx="1079500" cy="495300"/>
          </a:xfrm>
          <a:prstGeom prst="rect">
            <a:avLst/>
          </a:prstGeom>
          <a:solidFill>
            <a:srgbClr val="F8F5F5"/>
          </a:solidFill>
          <a:ln w="10160">
            <a:solidFill>
              <a:srgbClr val="86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42000" y="3187700"/>
            <a:ext cx="787400" cy="2654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61F2D"/>
                </a:solidFill>
                <a:latin typeface="Microsoft YaHei"/>
                <a:ea typeface="Microsoft YaHei"/>
              </a:rPr>
              <a:t>0.66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3898900"/>
            <a:ext cx="9398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282C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78000" y="3759200"/>
            <a:ext cx="1079500" cy="495300"/>
          </a:xfrm>
          <a:prstGeom prst="rect">
            <a:avLst/>
          </a:prstGeom>
          <a:solidFill>
            <a:srgbClr val="F8F5F5"/>
          </a:solidFill>
          <a:ln w="10160">
            <a:solidFill>
              <a:srgbClr val="86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70100" y="3886200"/>
            <a:ext cx="787400" cy="2654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61F2D"/>
                </a:solidFill>
                <a:latin typeface="Microsoft YaHei"/>
                <a:ea typeface="Microsoft YaHei"/>
              </a:rPr>
              <a:t>0.70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35300" y="3759200"/>
            <a:ext cx="1079500" cy="495300"/>
          </a:xfrm>
          <a:prstGeom prst="rect">
            <a:avLst/>
          </a:prstGeom>
          <a:solidFill>
            <a:srgbClr val="F8F5F5"/>
          </a:solidFill>
          <a:ln w="10160">
            <a:solidFill>
              <a:srgbClr val="86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27400" y="3886200"/>
            <a:ext cx="787400" cy="2654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61F2D"/>
                </a:solidFill>
                <a:latin typeface="Microsoft YaHei"/>
                <a:ea typeface="Microsoft YaHei"/>
              </a:rPr>
              <a:t>0.49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2600" y="3759200"/>
            <a:ext cx="1079500" cy="495300"/>
          </a:xfrm>
          <a:prstGeom prst="rect">
            <a:avLst/>
          </a:prstGeom>
          <a:solidFill>
            <a:srgbClr val="F3F4F5"/>
          </a:solidFill>
          <a:ln w="1016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84700" y="3886200"/>
            <a:ext cx="787400" cy="2654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B73"/>
                </a:solidFill>
                <a:latin typeface="Microsoft YaHei"/>
                <a:ea typeface="Microsoft YaHei"/>
              </a:rPr>
              <a:t>0.34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49900" y="3759200"/>
            <a:ext cx="1079500" cy="495300"/>
          </a:xfrm>
          <a:prstGeom prst="rect">
            <a:avLst/>
          </a:prstGeom>
          <a:solidFill>
            <a:srgbClr val="F3F4F5"/>
          </a:solidFill>
          <a:ln w="1016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2000" y="3886200"/>
            <a:ext cx="787400" cy="2654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B73"/>
                </a:solidFill>
                <a:latin typeface="Microsoft YaHei"/>
                <a:ea typeface="Microsoft YaHei"/>
              </a:rPr>
              <a:t>0.24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4597400"/>
            <a:ext cx="9398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282C"/>
                </a:solidFill>
                <a:latin typeface="Microsoft YaHei"/>
                <a:ea typeface="Microsoft YaHei"/>
              </a:rPr>
              <a:t>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78000" y="4457700"/>
            <a:ext cx="1079500" cy="495300"/>
          </a:xfrm>
          <a:prstGeom prst="rect">
            <a:avLst/>
          </a:prstGeom>
          <a:solidFill>
            <a:srgbClr val="F3F4F5"/>
          </a:solidFill>
          <a:ln w="1016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70100" y="4584700"/>
            <a:ext cx="787400" cy="2654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B73"/>
                </a:solidFill>
                <a:latin typeface="Microsoft YaHei"/>
                <a:ea typeface="Microsoft YaHei"/>
              </a:rPr>
              <a:t>0.40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35300" y="4457700"/>
            <a:ext cx="1079500" cy="495300"/>
          </a:xfrm>
          <a:prstGeom prst="rect">
            <a:avLst/>
          </a:prstGeom>
          <a:solidFill>
            <a:srgbClr val="F3F4F5"/>
          </a:solidFill>
          <a:ln w="1016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27400" y="4584700"/>
            <a:ext cx="787400" cy="2654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B73"/>
                </a:solidFill>
                <a:latin typeface="Microsoft YaHei"/>
                <a:ea typeface="Microsoft YaHei"/>
              </a:rPr>
              <a:t>0.16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2600" y="4457700"/>
            <a:ext cx="1079500" cy="495300"/>
          </a:xfrm>
          <a:prstGeom prst="rect">
            <a:avLst/>
          </a:prstGeom>
          <a:solidFill>
            <a:srgbClr val="F3F4F5"/>
          </a:solidFill>
          <a:ln w="1016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84700" y="4584700"/>
            <a:ext cx="787400" cy="2654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B73"/>
                </a:solidFill>
                <a:latin typeface="Microsoft YaHei"/>
                <a:ea typeface="Microsoft YaHei"/>
              </a:rPr>
              <a:t>0.06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49900" y="4457700"/>
            <a:ext cx="1079500" cy="495300"/>
          </a:xfrm>
          <a:prstGeom prst="rect">
            <a:avLst/>
          </a:prstGeom>
          <a:solidFill>
            <a:srgbClr val="F3F4F5"/>
          </a:solidFill>
          <a:ln w="10160">
            <a:solidFill>
              <a:srgbClr val="D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42000" y="4584700"/>
            <a:ext cx="787400" cy="2654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B73"/>
                </a:solidFill>
                <a:latin typeface="Microsoft YaHei"/>
                <a:ea typeface="Microsoft YaHei"/>
              </a:rPr>
              <a:t>0.03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8800" y="5257800"/>
            <a:ext cx="63373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61F2D"/>
                </a:solidFill>
                <a:latin typeface="Microsoft YaHei"/>
                <a:ea typeface="Microsoft YaHei"/>
              </a:rPr>
              <a:t>期望扩展：固定均分 3.46 → 按存活率选择 4.29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239000" y="2108200"/>
            <a:ext cx="0" cy="347980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556500" y="2159000"/>
            <a:ext cx="40640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61F2D"/>
                </a:solidFill>
                <a:latin typeface="Microsoft YaHei"/>
                <a:ea typeface="Microsoft YaHei"/>
              </a:rPr>
              <a:t>实际调度需同时考虑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56500" y="2794000"/>
            <a:ext cx="4064000" cy="350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1. 前缀闭包与非预知性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56500" y="3118802"/>
            <a:ext cx="4064000" cy="350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2. 验证 shape / CUDA graph 台阶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56500" y="3443604"/>
            <a:ext cx="4064000" cy="350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3. 上下文与 MoE 专家增量成本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56500" y="3768407"/>
            <a:ext cx="4064000" cy="350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4. 请求 deadline 与公平性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56500" y="4093210"/>
            <a:ext cx="4064000" cy="350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5. 突发流量下的回退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3400" y="5778500"/>
            <a:ext cx="11125200" cy="469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3400" y="5778500"/>
            <a:ext cx="38100" cy="4699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8500" y="5880100"/>
            <a:ext cx="107823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5282C"/>
                </a:solidFill>
                <a:latin typeface="Microsoft YaHei"/>
                <a:ea typeface="Microsoft YaHei"/>
              </a:rPr>
              <a:t>目标应是满足 SLO 的有效吞吐；排序分数不能代替真实成本，也不能破坏采样因果性。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3600" y="6515100"/>
            <a:ext cx="1420526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2"/>
              </a:rPr>
              <a:t>[DS] DSpark, 2026, preprint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58726" y="6515100"/>
            <a:ext cx="2036318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3"/>
              </a:rPr>
              <a:t>[PI] Performance or Illusion?, MLSys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05  系统与评测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性能证据：分别读取算法质量、墙钟速度与服务曲线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20800"/>
            <a:ext cx="111379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相同的“×”可能对应不同分母、工作量和服务约束；下列数字不可横向排序。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6100" y="2057400"/>
            <a:ext cx="11125200" cy="4064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" y="2146300"/>
            <a:ext cx="21717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证据类型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300" y="2146300"/>
            <a:ext cx="16764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代表数字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900" y="2146300"/>
            <a:ext cx="36449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实际含义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0" y="2146300"/>
            <a:ext cx="28194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不能推导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578100"/>
            <a:ext cx="21717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61F2D"/>
                </a:solidFill>
                <a:latin typeface="Microsoft YaHei"/>
                <a:ea typeface="Microsoft YaHei"/>
              </a:rPr>
              <a:t>草稿质量：DSpark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300" y="2578100"/>
            <a:ext cx="16764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5282C"/>
                </a:solidFill>
                <a:latin typeface="Microsoft YaHei"/>
                <a:ea typeface="Microsoft YaHei"/>
              </a:rPr>
              <a:t>τ +26.7%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4900" y="2578100"/>
            <a:ext cx="36449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5282C"/>
                </a:solidFill>
                <a:latin typeface="Microsoft YaHei"/>
                <a:ea typeface="Microsoft YaHei"/>
              </a:rPr>
              <a:t>Qwen3-8B 九任务宏平均；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4900" y="2784475"/>
            <a:ext cx="36449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5282C"/>
                </a:solidFill>
                <a:latin typeface="Microsoft YaHei"/>
                <a:ea typeface="Microsoft YaHei"/>
              </a:rPr>
              <a:t>同训练框架，相对 EAGLE-3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0" y="2578100"/>
            <a:ext cx="28194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5282C"/>
                </a:solidFill>
                <a:latin typeface="Microsoft YaHei"/>
                <a:ea typeface="Microsoft YaHei"/>
              </a:rPr>
              <a:t>不等于 TPOT 改善 26.7%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6100" y="33147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46100" y="3314700"/>
            <a:ext cx="11125200" cy="850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429000"/>
            <a:ext cx="21717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61F2D"/>
                </a:solidFill>
                <a:latin typeface="Microsoft YaHei"/>
                <a:ea typeface="Microsoft YaHei"/>
              </a:rPr>
              <a:t>线上服务：DSpark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300" y="3429000"/>
            <a:ext cx="16764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5282C"/>
                </a:solidFill>
                <a:latin typeface="Microsoft YaHei"/>
                <a:ea typeface="Microsoft YaHei"/>
              </a:rPr>
              <a:t>速度 +60–85%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4900" y="3429000"/>
            <a:ext cx="36449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5282C"/>
                </a:solidFill>
                <a:latin typeface="Microsoft YaHei"/>
                <a:ea typeface="Microsoft YaHei"/>
              </a:rPr>
              <a:t>Flash；匹配吞吐，相对 MTP-1；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4900" y="3635375"/>
            <a:ext cx="36449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5282C"/>
                </a:solidFill>
                <a:latin typeface="Microsoft YaHei"/>
                <a:ea typeface="Microsoft YaHei"/>
              </a:rPr>
              <a:t>作者生产遥测报告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0" y="3429000"/>
            <a:ext cx="28194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5282C"/>
                </a:solidFill>
                <a:latin typeface="Microsoft YaHei"/>
                <a:ea typeface="Microsoft YaHei"/>
              </a:rPr>
              <a:t>不等于所有模型和负载收益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6100" y="41656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0400" y="4279900"/>
            <a:ext cx="21717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61F2D"/>
                </a:solidFill>
                <a:latin typeface="Microsoft YaHei"/>
                <a:ea typeface="Microsoft YaHei"/>
              </a:rPr>
              <a:t>理论 / 仿真潜力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5300" y="4279900"/>
            <a:ext cx="16764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5282C"/>
                </a:solidFill>
                <a:latin typeface="Microsoft YaHei"/>
                <a:ea typeface="Microsoft YaHei"/>
              </a:rPr>
              <a:t>最高 4.9×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4900" y="4279900"/>
            <a:ext cx="36449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5282C"/>
                </a:solidFill>
                <a:latin typeface="Microsoft YaHei"/>
                <a:ea typeface="Microsoft YaHei"/>
              </a:rPr>
              <a:t>Performance or Illusion? 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4900" y="4486275"/>
            <a:ext cx="36449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5282C"/>
                </a:solidFill>
                <a:latin typeface="Microsoft YaHei"/>
                <a:ea typeface="Microsoft YaHei"/>
              </a:rPr>
              <a:t>oracle 组合与上界分析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3000" y="4279900"/>
            <a:ext cx="2819400" cy="231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5282C"/>
                </a:solidFill>
                <a:latin typeface="Microsoft YaHei"/>
                <a:ea typeface="Microsoft YaHei"/>
              </a:rPr>
              <a:t>不是已实现系统的实测纪录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6100" y="50165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4200" y="5232400"/>
            <a:ext cx="110617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统一评测至少锁定：模型 / 引擎版本、GPU、量化、采样参数、ISL / OSL、并发与到达过程。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3400" y="5778500"/>
            <a:ext cx="11125200" cy="469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3400" y="5778500"/>
            <a:ext cx="38100" cy="4699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500" y="5880100"/>
            <a:ext cx="107823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5282C"/>
                </a:solidFill>
                <a:latin typeface="Microsoft YaHei"/>
                <a:ea typeface="Microsoft YaHei"/>
              </a:rPr>
              <a:t>每个性能结论都应携带“基线 + 配置 + 工作量 + 指标定义 + 证据类型”。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3600" y="6515100"/>
            <a:ext cx="1420526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2"/>
              </a:rPr>
              <a:t>[DS] DSpark, 2026, preprint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58726" y="6515100"/>
            <a:ext cx="2036318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3"/>
              </a:rPr>
              <a:t>[PI] Performance or Illusion?, MLSys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69644" y="6515100"/>
            <a:ext cx="152473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4"/>
              </a:rPr>
              <a:t>[SP] SPEED-Bench, ICML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05  系统与评测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正确性与鲁棒性：输出保证和服务稳定性分开评估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20800"/>
            <a:ext cx="111379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保持目标模型分布，并不保证所有输入都能加速；经验任务分数接近，也不构成无损证明。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58800" y="2070100"/>
            <a:ext cx="11112500" cy="4064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3100" y="2159000"/>
            <a:ext cx="17907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保证类别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7000" y="2159000"/>
            <a:ext cx="40767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必须明确的对象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6900" y="2159000"/>
            <a:ext cx="46355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验证方式 / 常见误读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2590800"/>
            <a:ext cx="1790700" cy="2333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861F2D"/>
                </a:solidFill>
                <a:latin typeface="Microsoft YaHei"/>
                <a:ea typeface="Microsoft YaHei"/>
              </a:rPr>
              <a:t>Greedy-exact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7000" y="2590800"/>
            <a:ext cx="4076700" cy="2333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>
                <a:solidFill>
                  <a:srgbClr val="25282C"/>
                </a:solidFill>
                <a:latin typeface="Microsoft YaHei"/>
                <a:ea typeface="Microsoft YaHei"/>
              </a:rPr>
              <a:t>给定 target 与策略的 argmax 序列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6900" y="2590800"/>
            <a:ext cx="4635500" cy="2333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>
                <a:solidFill>
                  <a:srgbClr val="25282C"/>
                </a:solidFill>
                <a:latin typeface="Microsoft YaHei"/>
                <a:ea typeface="Microsoft YaHei"/>
              </a:rPr>
              <a:t>逐 token 对照；不外推到非零温度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8800" y="3111500"/>
            <a:ext cx="111125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58800" y="3111500"/>
            <a:ext cx="11112500" cy="635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100" y="3225800"/>
            <a:ext cx="1790700" cy="2333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861F2D"/>
                </a:solidFill>
                <a:latin typeface="Microsoft YaHei"/>
                <a:ea typeface="Microsoft YaHei"/>
              </a:rPr>
              <a:t>Distribution-exact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7000" y="3225800"/>
            <a:ext cx="4076700" cy="2333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>
                <a:solidFill>
                  <a:srgbClr val="25282C"/>
                </a:solidFill>
                <a:latin typeface="Microsoft YaHei"/>
                <a:ea typeface="Microsoft YaHei"/>
              </a:rPr>
              <a:t>同一 target 的采样分布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6900" y="3225800"/>
            <a:ext cx="4635500" cy="2333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>
                <a:solidFill>
                  <a:srgbClr val="25282C"/>
                </a:solidFill>
                <a:latin typeface="Microsoft YaHei"/>
                <a:ea typeface="Microsoft YaHei"/>
              </a:rPr>
              <a:t>toy 穷举 + 统计检验；同种子不必逐样本相同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8800" y="3746500"/>
            <a:ext cx="111125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3100" y="3860800"/>
            <a:ext cx="1790700" cy="2333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861F2D"/>
                </a:solidFill>
                <a:latin typeface="Microsoft YaHei"/>
                <a:ea typeface="Microsoft YaHei"/>
              </a:rPr>
              <a:t>Approximate / lossy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67000" y="3860800"/>
            <a:ext cx="4076700" cy="2333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>
                <a:solidFill>
                  <a:srgbClr val="25282C"/>
                </a:solidFill>
                <a:latin typeface="Microsoft YaHei"/>
                <a:ea typeface="Microsoft YaHei"/>
              </a:rPr>
              <a:t>允许偏离的策略与风险预算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6900" y="3860800"/>
            <a:ext cx="4635500" cy="2333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>
                <a:solidFill>
                  <a:srgbClr val="25282C"/>
                </a:solidFill>
                <a:latin typeface="Microsoft YaHei"/>
                <a:ea typeface="Microsoft YaHei"/>
              </a:rPr>
              <a:t>报告轨迹分歧、任务质量和失败分布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8800" y="4381500"/>
            <a:ext cx="111125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71500" y="4711700"/>
            <a:ext cx="52578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61F2D"/>
                </a:solidFill>
                <a:latin typeface="Microsoft YaHei"/>
                <a:ea typeface="Microsoft YaHei"/>
              </a:rPr>
              <a:t>鲁棒性：接受率也可能被输入击穿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5168900"/>
            <a:ext cx="52578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5282C"/>
                </a:solidFill>
                <a:latin typeface="Microsoft YaHei"/>
                <a:ea typeface="Microsoft YaHei"/>
              </a:rPr>
              <a:t>按请求监测实际推进量和额外成本，防止困难输入拖累共享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5417502"/>
            <a:ext cx="52578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5282C"/>
                </a:solidFill>
                <a:latin typeface="Microsoft YaHei"/>
                <a:ea typeface="Microsoft YaHei"/>
              </a:rPr>
              <a:t>batch。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0300" y="4711700"/>
            <a:ext cx="53721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61F2D"/>
                </a:solidFill>
                <a:latin typeface="Microsoft YaHei"/>
                <a:ea typeface="Microsoft YaHei"/>
              </a:rPr>
              <a:t>回退：保留原 target 解码作为基线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0300" y="5168900"/>
            <a:ext cx="53721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5282C"/>
                </a:solidFill>
                <a:latin typeface="Microsoft YaHei"/>
                <a:ea typeface="Microsoft YaHei"/>
              </a:rPr>
              <a:t>基于合法历史信息缩短预算或关闭 SD；同时审计状态恢复与尾延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0300" y="5417502"/>
            <a:ext cx="53721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5282C"/>
                </a:solidFill>
                <a:latin typeface="Microsoft YaHei"/>
                <a:ea typeface="Microsoft YaHei"/>
              </a:rPr>
              <a:t>迟。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3400" y="5778500"/>
            <a:ext cx="11125200" cy="469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3400" y="5778500"/>
            <a:ext cx="38100" cy="4699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8500" y="5880100"/>
            <a:ext cx="107823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5282C"/>
                </a:solidFill>
                <a:latin typeface="Microsoft YaHei"/>
                <a:ea typeface="Microsoft YaHei"/>
              </a:rPr>
              <a:t>正确性 gate、性能 gate、鲁棒性 gate 应分别通过；接受率崩溃不必伴随输出质量下降。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3600" y="6515100"/>
            <a:ext cx="1251648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2"/>
              </a:rPr>
              <a:t>[GLO] 术语与正确性边界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89848" y="6515100"/>
            <a:ext cx="1908778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3"/>
              </a:rPr>
              <a:t>[RV] Revisiting Lossy Verification,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3226" y="6515100"/>
            <a:ext cx="1518348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4"/>
              </a:rPr>
              <a:t>[MT] Mistletoe, 2026, preprint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06  研究机会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8 月增量：新进展继续暴露概率、状态和条件接口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20800"/>
            <a:ext cx="111379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截至 2026.08.26：20 份 arXiv PDF 方法与结果核验，另补 4 个正式来源方法；尚未计入 66 篇精读。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6100" y="2032000"/>
            <a:ext cx="11125200" cy="4064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" y="2120900"/>
            <a:ext cx="22860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新增信号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9600" y="2120900"/>
            <a:ext cx="44831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代表方法与具体问题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5900" y="2120900"/>
            <a:ext cx="37465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对研究判断的影响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2552700"/>
            <a:ext cx="2286000" cy="22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861F2D"/>
                </a:solidFill>
                <a:latin typeface="Microsoft YaHei"/>
                <a:ea typeface="Microsoft YaHei"/>
              </a:rPr>
              <a:t>残差概率账本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9600" y="2552700"/>
            <a:ext cx="4483100" cy="22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25282C"/>
                </a:solidFill>
                <a:latin typeface="Microsoft YaHei"/>
                <a:ea typeface="Microsoft YaHei"/>
              </a:rPr>
              <a:t>ResiSpec：多候选拒绝后的残差漂移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5900" y="2552700"/>
            <a:ext cx="3746500" cy="22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25282C"/>
                </a:solidFill>
                <a:latin typeface="Microsoft YaHei"/>
                <a:ea typeface="Microsoft YaHei"/>
              </a:rPr>
              <a:t>更多候选须与正确残差更新耦合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6100" y="30480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6100" y="3048000"/>
            <a:ext cx="11125200" cy="60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3162300"/>
            <a:ext cx="2286000" cy="22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861F2D"/>
                </a:solidFill>
                <a:latin typeface="Microsoft YaHei"/>
                <a:ea typeface="Microsoft YaHei"/>
              </a:rPr>
              <a:t>并行候选的相关性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9600" y="3162300"/>
            <a:ext cx="4483100" cy="22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25282C"/>
                </a:solidFill>
                <a:latin typeface="Microsoft YaHei"/>
                <a:ea typeface="Microsoft YaHei"/>
              </a:rPr>
              <a:t>DARTree：因果头扩树；LiLiCorr：兼容路径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5900" y="3162300"/>
            <a:ext cx="3746500" cy="22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25282C"/>
                </a:solidFill>
                <a:latin typeface="Microsoft YaHei"/>
                <a:ea typeface="Microsoft YaHei"/>
              </a:rPr>
              <a:t>仅增加并行 token 数已较拥挤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6100" y="36576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60400" y="3771900"/>
            <a:ext cx="2286000" cy="22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861F2D"/>
                </a:solidFill>
                <a:latin typeface="Microsoft YaHei"/>
                <a:ea typeface="Microsoft YaHei"/>
              </a:rPr>
              <a:t>混合模型状态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9600" y="3771900"/>
            <a:ext cx="4483100" cy="22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25282C"/>
                </a:solidFill>
                <a:latin typeface="Microsoft YaHei"/>
                <a:ea typeface="Microsoft YaHei"/>
              </a:rPr>
              <a:t>TreeWY：树形 recurrent-state 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5900" y="3771900"/>
            <a:ext cx="3746500" cy="22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25282C"/>
                </a:solidFill>
                <a:latin typeface="Microsoft YaHei"/>
                <a:ea typeface="Microsoft YaHei"/>
              </a:rPr>
              <a:t>运行时抽象不能只支持 attention KV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6100" y="42672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46100" y="4267200"/>
            <a:ext cx="11125200" cy="60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400" y="4381500"/>
            <a:ext cx="2286000" cy="22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861F2D"/>
                </a:solidFill>
                <a:latin typeface="Microsoft YaHei"/>
                <a:ea typeface="Microsoft YaHei"/>
              </a:rPr>
              <a:t>请求语义作用域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9600" y="4381500"/>
            <a:ext cx="4483100" cy="22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25282C"/>
                </a:solidFill>
                <a:latin typeface="Microsoft YaHei"/>
                <a:ea typeface="Microsoft YaHei"/>
              </a:rPr>
              <a:t>AgentSpec：按 agent / query / block 检索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5900" y="4381500"/>
            <a:ext cx="3746500" cy="22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25282C"/>
                </a:solidFill>
                <a:latin typeface="Microsoft YaHei"/>
                <a:ea typeface="Microsoft YaHei"/>
              </a:rPr>
              <a:t>复用收益取决于隔离边界与预算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6100" y="48768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0400" y="4991100"/>
            <a:ext cx="2286000" cy="22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861F2D"/>
                </a:solidFill>
                <a:latin typeface="Microsoft YaHei"/>
                <a:ea typeface="Microsoft YaHei"/>
              </a:rPr>
              <a:t>MoE 与多模态接口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9600" y="4991100"/>
            <a:ext cx="4483100" cy="22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25282C"/>
                </a:solidFill>
                <a:latin typeface="Microsoft YaHei"/>
                <a:ea typeface="Microsoft YaHei"/>
              </a:rPr>
              <a:t>S2-MoE：专家复用；FOVEA：视觉条件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5900" y="4991100"/>
            <a:ext cx="3746500" cy="22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25282C"/>
                </a:solidFill>
                <a:latin typeface="Microsoft YaHei"/>
                <a:ea typeface="Microsoft YaHei"/>
              </a:rPr>
              <a:t>S2-MoE 改 router，须标为近似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6100" y="54864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33400" y="5778500"/>
            <a:ext cx="11125200" cy="469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3400" y="5778500"/>
            <a:ext cx="38100" cy="4699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8500" y="5880100"/>
            <a:ext cx="107823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5282C"/>
                </a:solidFill>
                <a:latin typeface="Microsoft YaHei"/>
                <a:ea typeface="Microsoft YaHei"/>
              </a:rPr>
              <a:t>增量带来的变化：优先研究接口与约束的缺口，避免把已覆盖的局部机制重新包装。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3600" y="6515100"/>
            <a:ext cx="1350518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2"/>
              </a:rPr>
              <a:t>[INC] 2026-08-26 增量核验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88718" y="6515100"/>
            <a:ext cx="1492154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3"/>
              </a:rPr>
              <a:t>[RS] ResiSpec, 2026, preprint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5472" y="6515100"/>
            <a:ext cx="1448149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4"/>
              </a:rPr>
              <a:t>[TW] TreeWY, 2026, preprint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07  决策与行动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落地选型：依据瓶颈与可投入资源筛选路线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20800"/>
            <a:ext cx="111379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下表为基于知识库的起始建议，不是通用方法排名；最终以同引擎、同工作量实验决定。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6100" y="2044700"/>
            <a:ext cx="11125200" cy="4064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" y="2133600"/>
            <a:ext cx="20701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工作负载 / 约束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3700" y="2133600"/>
            <a:ext cx="28448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优先建立的候选基线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1700" y="2133600"/>
            <a:ext cx="30480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主要风险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2900" y="2133600"/>
            <a:ext cx="23495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主指标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565400"/>
            <a:ext cx="20701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861F2D"/>
                </a:solidFill>
                <a:latin typeface="Microsoft YaHei"/>
                <a:ea typeface="Microsoft YaHei"/>
              </a:rPr>
              <a:t>低并发交互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3700" y="2565400"/>
            <a:ext cx="28448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5282C"/>
                </a:solidFill>
                <a:latin typeface="Microsoft YaHei"/>
                <a:ea typeface="Microsoft YaHei"/>
              </a:rPr>
              <a:t>EAGLE-3 / DFlash / DSpark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1700" y="2565400"/>
            <a:ext cx="30480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5282C"/>
                </a:solidFill>
                <a:latin typeface="Microsoft YaHei"/>
                <a:ea typeface="Microsoft YaHei"/>
              </a:rPr>
              <a:t>target 专用适配；固定开销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2900" y="2565400"/>
            <a:ext cx="23495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5282C"/>
                </a:solidFill>
                <a:latin typeface="Microsoft YaHei"/>
                <a:ea typeface="Microsoft YaHei"/>
              </a:rPr>
              <a:t>P50 / P95 TPOT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6100" y="29845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46100" y="2984500"/>
            <a:ext cx="11125200" cy="533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098800"/>
            <a:ext cx="20701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861F2D"/>
                </a:solidFill>
                <a:latin typeface="Microsoft YaHei"/>
                <a:ea typeface="Microsoft YaHei"/>
              </a:rPr>
              <a:t>高并发在线服务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3700" y="3098800"/>
            <a:ext cx="28448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5282C"/>
                </a:solidFill>
                <a:latin typeface="Microsoft YaHei"/>
                <a:ea typeface="Microsoft YaHei"/>
              </a:rPr>
              <a:t>自适应小块 + continuous batching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1700" y="3098800"/>
            <a:ext cx="30480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5282C"/>
                </a:solidFill>
                <a:latin typeface="Microsoft YaHei"/>
                <a:ea typeface="Microsoft YaHei"/>
              </a:rPr>
              <a:t>过验证；图容量台阶；公平性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2900" y="3098800"/>
            <a:ext cx="23495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5282C"/>
                </a:solidFill>
                <a:latin typeface="Microsoft YaHei"/>
                <a:ea typeface="Microsoft YaHei"/>
              </a:rPr>
              <a:t>SLO goodput / P99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6100" y="35179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60400" y="3632200"/>
            <a:ext cx="20701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861F2D"/>
                </a:solidFill>
                <a:latin typeface="Microsoft YaHei"/>
                <a:ea typeface="Microsoft YaHei"/>
              </a:rPr>
              <a:t>长上下文生成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3700" y="3632200"/>
            <a:ext cx="28448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5282C"/>
                </a:solidFill>
                <a:latin typeface="Microsoft YaHei"/>
                <a:ea typeface="Microsoft YaHei"/>
              </a:rPr>
              <a:t>MagicDec / draft KV 窗口化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1700" y="3632200"/>
            <a:ext cx="30480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5282C"/>
                </a:solidFill>
                <a:latin typeface="Microsoft YaHei"/>
                <a:ea typeface="Microsoft YaHei"/>
              </a:rPr>
              <a:t>远距依赖退化；状态回退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2900" y="3632200"/>
            <a:ext cx="23495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5282C"/>
                </a:solidFill>
                <a:latin typeface="Microsoft YaHei"/>
                <a:ea typeface="Microsoft YaHei"/>
              </a:rPr>
              <a:t>TPOT / bytes-read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6100" y="40513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6100" y="4051300"/>
            <a:ext cx="11125200" cy="533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400" y="4165600"/>
            <a:ext cx="20701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861F2D"/>
                </a:solidFill>
                <a:latin typeface="Microsoft YaHei"/>
                <a:ea typeface="Microsoft YaHei"/>
              </a:rPr>
              <a:t>重复代码 /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33700" y="4165600"/>
            <a:ext cx="28448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5282C"/>
                </a:solidFill>
                <a:latin typeface="Microsoft YaHei"/>
                <a:ea typeface="Microsoft YaHei"/>
              </a:rPr>
              <a:t>n-gram / Suffix / scope 检索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1700" y="4165600"/>
            <a:ext cx="30480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5282C"/>
                </a:solidFill>
                <a:latin typeface="Microsoft YaHei"/>
                <a:ea typeface="Microsoft YaHei"/>
              </a:rPr>
              <a:t>污染匹配；低重复请求退化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2900" y="4165600"/>
            <a:ext cx="23495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5282C"/>
                </a:solidFill>
                <a:latin typeface="Microsoft YaHei"/>
                <a:ea typeface="Microsoft YaHei"/>
              </a:rPr>
              <a:t>检索命中 / E2E 延迟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6100" y="45847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60400" y="4699000"/>
            <a:ext cx="20701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861F2D"/>
                </a:solidFill>
                <a:latin typeface="Microsoft YaHei"/>
                <a:ea typeface="Microsoft YaHei"/>
              </a:rPr>
              <a:t>边缘 / 权重 offload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3700" y="4699000"/>
            <a:ext cx="28448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5282C"/>
                </a:solidFill>
                <a:latin typeface="Microsoft YaHei"/>
                <a:ea typeface="Microsoft YaHei"/>
              </a:rPr>
              <a:t>驻留集管理；检索 / 大树对照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1700" y="4699000"/>
            <a:ext cx="30480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5282C"/>
                </a:solidFill>
                <a:latin typeface="Microsoft YaHei"/>
                <a:ea typeface="Microsoft YaHei"/>
              </a:rPr>
              <a:t>换入成本；显存与带宽上限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2900" y="4699000"/>
            <a:ext cx="23495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5282C"/>
                </a:solidFill>
                <a:latin typeface="Microsoft YaHei"/>
                <a:ea typeface="Microsoft YaHei"/>
              </a:rPr>
              <a:t>E2E / 能耗 / 内存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6100" y="51181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46100" y="5118100"/>
            <a:ext cx="11125200" cy="533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400" y="5232400"/>
            <a:ext cx="20701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861F2D"/>
                </a:solidFill>
                <a:latin typeface="Microsoft YaHei"/>
                <a:ea typeface="Microsoft YaHei"/>
              </a:rPr>
              <a:t>MoE / 混合架构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33700" y="5232400"/>
            <a:ext cx="28448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5282C"/>
                </a:solidFill>
                <a:latin typeface="Microsoft YaHei"/>
                <a:ea typeface="Microsoft YaHei"/>
              </a:rPr>
              <a:t>专家成本预算；状态专用验证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1700" y="5232400"/>
            <a:ext cx="30480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5282C"/>
                </a:solidFill>
                <a:latin typeface="Microsoft YaHei"/>
                <a:ea typeface="Microsoft YaHei"/>
              </a:rPr>
              <a:t>修改 router；矩阵状态复制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2900" y="5232400"/>
            <a:ext cx="23495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5282C"/>
                </a:solidFill>
                <a:latin typeface="Microsoft YaHei"/>
                <a:ea typeface="Microsoft YaHei"/>
              </a:rPr>
              <a:t>exactness / goodput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6100" y="56515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33400" y="5778500"/>
            <a:ext cx="11125200" cy="469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3400" y="5778500"/>
            <a:ext cx="38100" cy="4699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8500" y="5880100"/>
            <a:ext cx="107823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5282C"/>
                </a:solidFill>
                <a:latin typeface="Microsoft YaHei"/>
                <a:ea typeface="Microsoft YaHei"/>
              </a:rPr>
              <a:t>最低对照组：相同引擎的无 SD + 低成本检索草稿 + 适配目标的神经草稿。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3600" y="6515100"/>
            <a:ext cx="852169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2"/>
              </a:rPr>
              <a:t>[TAX] 方法谱系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90370" y="6515100"/>
            <a:ext cx="97628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3"/>
              </a:rPr>
              <a:t>[CMP] 跨论文比较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41250" y="6515100"/>
            <a:ext cx="1350518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4"/>
              </a:rPr>
              <a:t>[INC] 2026-08-26 增量核验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07  决策与行动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研究优先级：选择可证伪、可测量的系统接口问题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20800"/>
            <a:ext cx="111379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以下为本报告的研究建议；依赖资源条件，不能作为“尚无相关工作”的完备新颖性声明。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71500" y="2146300"/>
            <a:ext cx="558800" cy="436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861F2D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8100" y="2095500"/>
            <a:ext cx="10172700" cy="35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861F2D"/>
                </a:solidFill>
                <a:latin typeface="Microsoft YaHei"/>
                <a:ea typeface="Microsoft YaHei"/>
              </a:rPr>
              <a:t>Exact MoE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8100" y="2527300"/>
            <a:ext cx="101727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不改 target router；联合树预算、专家预取与验证 packing。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8100" y="2908300"/>
            <a:ext cx="101727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66B73"/>
                </a:solidFill>
                <a:latin typeface="Microsoft YaHei"/>
                <a:ea typeface="Microsoft YaHei"/>
              </a:rPr>
              <a:t>证伪条件：减少 expert loads 后，goodput 仍无改善。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340100"/>
            <a:ext cx="558800" cy="436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861F2D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8100" y="3289300"/>
            <a:ext cx="10172700" cy="35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861F2D"/>
                </a:solidFill>
                <a:latin typeface="Microsoft YaHei"/>
                <a:ea typeface="Microsoft YaHei"/>
              </a:rPr>
              <a:t>漂移鲁棒的 prefix-survival 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8100" y="3721100"/>
            <a:ext cx="101727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用在线校准、负载反馈和回退，处理语言 / 温度 / 流量漂移。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8100" y="4102100"/>
            <a:ext cx="101727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66B73"/>
                </a:solidFill>
                <a:latin typeface="Microsoft YaHei"/>
                <a:ea typeface="Microsoft YaHei"/>
              </a:rPr>
              <a:t>证伪条件：只改善校准误差，不能稳定改善 SLO。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533900"/>
            <a:ext cx="558800" cy="436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861F2D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8100" y="4483100"/>
            <a:ext cx="10172700" cy="35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861F2D"/>
                </a:solidFill>
                <a:latin typeface="Microsoft YaHei"/>
                <a:ea typeface="Microsoft YaHei"/>
              </a:rPr>
              <a:t>统一 hybrid-state rollback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8100" y="4914900"/>
            <a:ext cx="101727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统一 attention KV、recurrent state 与拒绝分支生命周期。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8100" y="5295900"/>
            <a:ext cx="101727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66B73"/>
                </a:solidFill>
                <a:latin typeface="Microsoft YaHei"/>
                <a:ea typeface="Microsoft YaHei"/>
              </a:rPr>
              <a:t>证伪条件：状态压缩收益被 kernel 与同步开销抵消。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5778500"/>
            <a:ext cx="11125200" cy="469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3400" y="5778500"/>
            <a:ext cx="38100" cy="4699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500" y="5880100"/>
            <a:ext cx="107823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5282C"/>
                </a:solidFill>
                <a:latin typeface="Microsoft YaHei"/>
                <a:ea typeface="Microsoft YaHei"/>
              </a:rPr>
              <a:t>优先闭环：正确性定义 → 可测成本模型 → 动态负载实验 → 负结果与适用边界。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600" y="6515100"/>
            <a:ext cx="1350518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2"/>
              </a:rPr>
              <a:t>[INC] 2026-08-26 增量核验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88718" y="6515100"/>
            <a:ext cx="1254506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3"/>
              </a:rPr>
              <a:t>[GAP] 研究空白 shortlist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7824" y="6515100"/>
            <a:ext cx="97628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4"/>
              </a:rPr>
              <a:t>[CMP] 跨论文比较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07  决策与行动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四周验证路径：先定位收益来源，再决定扩大投入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20800"/>
            <a:ext cx="111379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建议从公开 checkpoint 和单一 serving engine 起步；下列门槛为项目建议，不是文献结论。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6100" y="2057400"/>
            <a:ext cx="11125200" cy="4064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" y="2146300"/>
            <a:ext cx="8890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2600" y="2146300"/>
            <a:ext cx="30226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关键工作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8400" y="2146300"/>
            <a:ext cx="42291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可审阅交付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0700" y="2146300"/>
            <a:ext cx="21717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6B73"/>
                </a:solidFill>
                <a:latin typeface="Microsoft YaHei"/>
                <a:ea typeface="Microsoft YaHei"/>
              </a:rPr>
              <a:t>推进门槛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578100"/>
            <a:ext cx="889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861F2D"/>
                </a:solidFill>
                <a:latin typeface="Microsoft YaHei"/>
                <a:ea typeface="Microsoft YaHei"/>
              </a:rPr>
              <a:t>第 1 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2600" y="2578100"/>
            <a:ext cx="3022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搭建 matched no-SD 基线；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2600" y="2781300"/>
            <a:ext cx="3022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审计采样与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8400" y="2578100"/>
            <a:ext cx="4229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固定模型 / 引擎 / kernel；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8400" y="2781300"/>
            <a:ext cx="4229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greedy 对照、toy 分布和状态测试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0700" y="2578100"/>
            <a:ext cx="2171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正确性 gate 通过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6100" y="32004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6100" y="3200400"/>
            <a:ext cx="11125200" cy="736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314700"/>
            <a:ext cx="889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861F2D"/>
                </a:solidFill>
                <a:latin typeface="Microsoft YaHei"/>
                <a:ea typeface="Microsoft YaHei"/>
              </a:rPr>
              <a:t>第 2 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2600" y="3314700"/>
            <a:ext cx="3022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扫领域 × 长度 × 并发；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2600" y="3517900"/>
            <a:ext cx="3022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记录逐轮 trace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8400" y="3314700"/>
            <a:ext cx="4229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draft / verify / other 时间；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78400" y="3517900"/>
            <a:ext cx="4229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逐位置 τ、P99、SLO goodput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0700" y="3314700"/>
            <a:ext cx="2171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定位至少一个真实瓶颈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6100" y="39370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0400" y="4051300"/>
            <a:ext cx="889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861F2D"/>
                </a:solidFill>
                <a:latin typeface="Microsoft YaHei"/>
                <a:ea typeface="Microsoft YaHei"/>
              </a:rPr>
              <a:t>第 3 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2600" y="4051300"/>
            <a:ext cx="3022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只实现一个核心改动；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2600" y="4254500"/>
            <a:ext cx="3022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做成本与机制消融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78400" y="4051300"/>
            <a:ext cx="4229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固定预算、校准、成本模型对照；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78400" y="4254500"/>
            <a:ext cx="4229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每项收益能对应具体机制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0700" y="4051300"/>
            <a:ext cx="2171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开销低于已获得收益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6100" y="46736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46100" y="4673600"/>
            <a:ext cx="11125200" cy="736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400" y="4787900"/>
            <a:ext cx="889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861F2D"/>
                </a:solidFill>
                <a:latin typeface="Microsoft YaHei"/>
                <a:ea typeface="Microsoft YaHei"/>
              </a:rPr>
              <a:t>第 4 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2600" y="4787900"/>
            <a:ext cx="3022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回放真实流量；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52600" y="4991100"/>
            <a:ext cx="3022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加入漂移与困难请求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8400" y="4787900"/>
            <a:ext cx="4229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置信区间、最坏退化、回退策略；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8400" y="4991100"/>
            <a:ext cx="4229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完整复现配置与负结果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0700" y="4787900"/>
            <a:ext cx="2171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282C"/>
                </a:solidFill>
                <a:latin typeface="Microsoft YaHei"/>
                <a:ea typeface="Microsoft YaHei"/>
              </a:rPr>
              <a:t>满足业务 SLO 与成本目标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6100" y="5410200"/>
            <a:ext cx="11125200" cy="0"/>
          </a:xfrm>
          <a:prstGeom prst="line">
            <a:avLst/>
          </a:prstGeom>
          <a:ln w="635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71500" y="5499100"/>
            <a:ext cx="110236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6B73"/>
                </a:solidFill>
                <a:latin typeface="Microsoft YaHei"/>
                <a:ea typeface="Microsoft YaHei"/>
              </a:rPr>
              <a:t>建议立项门槛：至少 2 类自然负载 goodput +10%，P99 退化 ≤5%；需结合本地 SLO 调整。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3400" y="5778500"/>
            <a:ext cx="11125200" cy="469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3400" y="5778500"/>
            <a:ext cx="38100" cy="4699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8500" y="5880100"/>
            <a:ext cx="107823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5282C"/>
                </a:solidFill>
                <a:latin typeface="Microsoft YaHei"/>
                <a:ea typeface="Microsoft YaHei"/>
              </a:rPr>
              <a:t>若接受提升不能转换为端到端收益，应转向成本与运行时问题，或及时停止该路线。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3600" y="6515100"/>
            <a:ext cx="152473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2"/>
              </a:rPr>
              <a:t>[SP] SPEED-Bench, ICML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62930" y="6515100"/>
            <a:ext cx="2036318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3"/>
              </a:rPr>
              <a:t>[PI] Performance or Illusion?, MLSys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73848" y="6515100"/>
            <a:ext cx="1254506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4"/>
              </a:rPr>
              <a:t>[GAP] 研究空白 shortlist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54000"/>
            <a:ext cx="82804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B73"/>
                </a:solidFill>
                <a:latin typeface="Microsoft YaHei"/>
                <a:ea typeface="Microsoft YaHei"/>
              </a:rPr>
              <a:t>投机解码领域洞察  /  08  结论与阅读路径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60400"/>
            <a:ext cx="112649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61F2D"/>
                </a:solidFill>
                <a:latin typeface="Microsoft YaHei"/>
                <a:ea typeface="Microsoft YaHei"/>
              </a:rPr>
              <a:t>结论：以正确性为约束，以有效吞吐为最终检验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20800"/>
            <a:ext cx="11137900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B73"/>
                </a:solidFill>
                <a:latin typeface="Microsoft YaHei"/>
                <a:ea typeface="Microsoft YaHei"/>
              </a:rPr>
              <a:t>研究范围止于知识库 2026.08.26 增量；后续论文与框架变化不在本报告覆盖承诺内。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828800"/>
            <a:ext cx="11125200" cy="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6900" y="2146300"/>
            <a:ext cx="469900" cy="4883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861F2D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8100" y="2146300"/>
            <a:ext cx="50673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61F2D"/>
                </a:solidFill>
                <a:latin typeface="Microsoft YaHei"/>
                <a:ea typeface="Microsoft YaHei"/>
              </a:rPr>
              <a:t>先问是否严格正确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8100" y="2654300"/>
            <a:ext cx="50800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明确 p、实际 q、校正和状态语义。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900" y="3314700"/>
            <a:ext cx="469900" cy="4883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861F2D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8100" y="3314700"/>
            <a:ext cx="50673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61F2D"/>
                </a:solidFill>
                <a:latin typeface="Microsoft YaHei"/>
                <a:ea typeface="Microsoft YaHei"/>
              </a:rPr>
              <a:t>再问节省了什么成本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8100" y="3822700"/>
            <a:ext cx="50800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分解起草、验证、缓存、排队与回退。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900" y="4483100"/>
            <a:ext cx="469900" cy="4883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861F2D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8100" y="4483100"/>
            <a:ext cx="50673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61F2D"/>
                </a:solidFill>
                <a:latin typeface="Microsoft YaHei"/>
                <a:ea typeface="Microsoft YaHei"/>
              </a:rPr>
              <a:t>最后问能否跨负载兑现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8100" y="4991100"/>
            <a:ext cx="50800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5282C"/>
                </a:solidFill>
                <a:latin typeface="Microsoft YaHei"/>
                <a:ea typeface="Microsoft YaHei"/>
              </a:rPr>
              <a:t>报告 SLO goodput、尾延迟与最坏退化。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94500" y="2120900"/>
            <a:ext cx="0" cy="3403600"/>
          </a:xfrm>
          <a:prstGeom prst="line">
            <a:avLst/>
          </a:prstGeom>
          <a:ln w="1016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50100" y="2133600"/>
            <a:ext cx="44958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61F2D"/>
                </a:solidFill>
                <a:latin typeface="Microsoft YaHei"/>
                <a:ea typeface="Microsoft YaHei"/>
              </a:rPr>
              <a:t>建议阅读顺序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5500" y="2705100"/>
            <a:ext cx="1422400" cy="2654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66B73"/>
                </a:solidFill>
                <a:latin typeface="Microsoft YaHei"/>
                <a:ea typeface="Microsoft YaHei"/>
              </a:rPr>
              <a:t>基础保证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5500" y="3022600"/>
            <a:ext cx="805643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5282C"/>
                </a:solidFill>
                <a:latin typeface="Microsoft YaHei"/>
                <a:ea typeface="Microsoft YaHei"/>
                <a:hlinkClick r:id="rId2"/>
              </a:rPr>
              <a:t>Leviathan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743" y="3022600"/>
            <a:ext cx="51174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5282C"/>
                </a:solidFill>
                <a:latin typeface="Microsoft YaHei"/>
                <a:ea typeface="Microsoft YaHei"/>
                <a:hlinkClick r:id="rId3"/>
              </a:rPr>
              <a:t>Chen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5500" y="3403600"/>
            <a:ext cx="1422400" cy="2654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66B73"/>
                </a:solidFill>
                <a:latin typeface="Microsoft YaHei"/>
                <a:ea typeface="Microsoft YaHei"/>
              </a:rPr>
              <a:t>草稿结构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5500" y="3721100"/>
            <a:ext cx="713232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5282C"/>
                </a:solidFill>
                <a:latin typeface="Microsoft YaHei"/>
                <a:ea typeface="Microsoft YaHei"/>
                <a:hlinkClick r:id="rId4"/>
              </a:rPr>
              <a:t>EAGLE-3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332" y="3721100"/>
            <a:ext cx="612152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5282C"/>
                </a:solidFill>
                <a:latin typeface="Microsoft YaHei"/>
                <a:ea typeface="Microsoft YaHei"/>
                <a:hlinkClick r:id="rId5"/>
              </a:rPr>
              <a:t>DFlash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0084" y="3721100"/>
            <a:ext cx="644823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5282C"/>
                </a:solidFill>
                <a:latin typeface="Microsoft YaHei"/>
                <a:ea typeface="Microsoft YaHei"/>
                <a:hlinkClick r:id="rId6"/>
              </a:rPr>
              <a:t>DSpark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5500" y="4102100"/>
            <a:ext cx="1422400" cy="2654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66B73"/>
                </a:solidFill>
                <a:latin typeface="Microsoft YaHei"/>
                <a:ea typeface="Microsoft YaHei"/>
              </a:rPr>
              <a:t>系统评测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5500" y="4419600"/>
            <a:ext cx="1710689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5282C"/>
                </a:solidFill>
                <a:latin typeface="Microsoft YaHei"/>
                <a:ea typeface="Microsoft YaHei"/>
                <a:hlinkClick r:id="rId7"/>
              </a:rPr>
              <a:t>Performance or Illusion?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790" y="4419600"/>
            <a:ext cx="1041273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5282C"/>
                </a:solidFill>
                <a:latin typeface="Microsoft YaHei"/>
                <a:ea typeface="Microsoft YaHei"/>
                <a:hlinkClick r:id="rId8"/>
              </a:rPr>
              <a:t>SPEED-Bench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5500" y="4800600"/>
            <a:ext cx="1422400" cy="2654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66B73"/>
                </a:solidFill>
                <a:latin typeface="Microsoft YaHei"/>
                <a:ea typeface="Microsoft YaHei"/>
              </a:rPr>
              <a:t>研究前沿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5500" y="5118100"/>
            <a:ext cx="179110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5282C"/>
                </a:solidFill>
                <a:latin typeface="Microsoft YaHei"/>
                <a:ea typeface="Microsoft YaHei"/>
                <a:hlinkClick r:id="rId9"/>
              </a:rPr>
              <a:t>知识库 8 月增量与开放问题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3400" y="5778500"/>
            <a:ext cx="11125200" cy="4699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3400" y="5778500"/>
            <a:ext cx="38100" cy="469900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8500" y="5880100"/>
            <a:ext cx="107823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5282C"/>
                </a:solidFill>
                <a:latin typeface="Microsoft YaHei"/>
                <a:ea typeface="Microsoft YaHei"/>
              </a:rPr>
              <a:t>值得投入的方向：用更少的真实资源，在更多工作负载上，稳定提交严格有效的前缀。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7620">
            <a:solidFill>
              <a:srgbClr val="D9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3400" y="6527800"/>
            <a:ext cx="787400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B73"/>
                </a:solidFill>
                <a:latin typeface="Microsoft YaHei"/>
                <a:ea typeface="Microsoft YaHei"/>
              </a:rPr>
              <a:t>来源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3600" y="6515100"/>
            <a:ext cx="1473485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10"/>
              </a:rPr>
              <a:t>[KB] 知识库：范围与证据状态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11685" y="6515100"/>
            <a:ext cx="1350518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B73"/>
                </a:solidFill>
                <a:latin typeface="Microsoft YaHei"/>
                <a:ea typeface="Microsoft YaHei"/>
                <a:hlinkClick r:id="rId9"/>
              </a:rPr>
              <a:t>[INC] 2026-08-26 增量核验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63300" y="6502400"/>
            <a:ext cx="571500" cy="179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B73"/>
                </a:solidFill>
                <a:latin typeface="Microsoft YaHei"/>
                <a:ea typeface="Microsoft YaHe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投机解码：从算法加速到系统协同</dc:title>
  <dc:subject>20页中文学术洞察；白底、深红标题、灰阶强调</dc:subject>
  <dc:creator>Research synthesis based on edgeai1 knowledge base</dc:creator>
  <cp:keywords>Speculative Decoding, EAGLE-3, DFlash, DSpark, exactness, serving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